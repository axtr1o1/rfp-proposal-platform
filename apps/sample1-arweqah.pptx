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rgbClr val="FFFFFF"/>
                </a:solidFill>
                <a:latin typeface="Open Sans"/>
                <a:ea typeface="+mn-ea"/>
                <a:cs typeface="+mn-cs"/>
              </a:defRPr>
            </a:pPr>
            <a:r>
              <a:t>Phase Duration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(Weeks)</c:v>
                </c:pt>
              </c:strCache>
            </c:strRef>
          </c:tx>
          <c:spPr>
            <a:solidFill>
              <a:srgbClr val="F9D462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0&quot; Weeks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FFFFFF"/>
                    </a:solidFill>
                    <a:latin typeface="Open San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Phase 1 — Planning &amp; Mobilization</c:v>
                </c:pt>
                <c:pt idx="1">
                  <c:v>Phase 2 — Job Analysis &amp; Descriptions</c:v>
                </c:pt>
                <c:pt idx="2">
                  <c:v>Phase 3 — SAQF Design &amp; Registration</c:v>
                </c:pt>
                <c:pt idx="3">
                  <c:v>Phase 4 — Training Programs Execution</c:v>
                </c:pt>
                <c:pt idx="4">
                  <c:v>Phase 5 — Incentives &amp; Enablers</c:v>
                </c:pt>
                <c:pt idx="5">
                  <c:v>Phase 6 — Monitoring &amp; Control</c:v>
                </c:pt>
                <c:pt idx="6">
                  <c:v>Phase 7 — Closure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8</c:v>
                </c:pt>
                <c:pt idx="4">
                  <c:v>3</c:v>
                </c:pt>
                <c:pt idx="5">
                  <c:v>12</c:v>
                </c:pt>
                <c:pt idx="6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400" b="1" i="0" u="none" strike="noStrike" kern="1200" baseline="0">
                    <a:solidFill>
                      <a:srgbClr val="FFFFFF"/>
                    </a:solidFill>
                    <a:latin typeface="Open Sans"/>
                    <a:ea typeface="+mn-ea"/>
                    <a:cs typeface="+mn-cs"/>
                  </a:defRPr>
                </a:pPr>
                <a:r>
                  <a:t>Project Phases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Open Sans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5C6F7A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400" b="1" i="0" u="none" strike="noStrike" kern="1200" baseline="0">
                    <a:solidFill>
                      <a:srgbClr val="FFFFFF"/>
                    </a:solidFill>
                    <a:latin typeface="Open Sans"/>
                    <a:ea typeface="+mn-ea"/>
                    <a:cs typeface="+mn-cs"/>
                  </a:defRPr>
                </a:pPr>
                <a:r>
                  <a:t>Duration (Weeks)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Open Sans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25544e5-57b5-4add-93aa-1f421fb82b05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rgbClr val="FFFFFF"/>
                </a:solidFill>
                <a:latin typeface="Open Sans"/>
                <a:ea typeface="+mn-ea"/>
                <a:cs typeface="+mn-cs"/>
              </a:defRPr>
            </a:pPr>
            <a:r>
              <a:t>Key Performance Indicators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9D462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FFFFFF"/>
                    </a:solidFill>
                    <a:latin typeface="Open San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Standards Acceptance</c:v>
                </c:pt>
                <c:pt idx="1">
                  <c:v>SAQF Registrations</c:v>
                </c:pt>
                <c:pt idx="2">
                  <c:v>Training Completion</c:v>
                </c:pt>
                <c:pt idx="3">
                  <c:v>Trainee Satisfaction</c:v>
                </c:pt>
                <c:pt idx="4">
                  <c:v>Assessment Pass Rate</c:v>
                </c:pt>
                <c:pt idx="5">
                  <c:v>On-time Deliverables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100</c:v>
                </c:pt>
                <c:pt idx="2">
                  <c:v>90</c:v>
                </c:pt>
                <c:pt idx="3">
                  <c:v>85</c:v>
                </c:pt>
                <c:pt idx="4">
                  <c:v>70</c:v>
                </c:pt>
                <c:pt idx="5">
                  <c:v>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400" b="1" i="0" u="none" strike="noStrike" kern="1200" baseline="0">
                    <a:solidFill>
                      <a:srgbClr val="FFFFFF"/>
                    </a:solidFill>
                    <a:latin typeface="Open Sans"/>
                    <a:ea typeface="+mn-ea"/>
                    <a:cs typeface="+mn-cs"/>
                  </a:defRPr>
                </a:pPr>
                <a:r>
                  <a:t>KPI Metrics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Open Sans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5C6F7A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400" b="1" i="0" u="none" strike="noStrike" kern="1200" baseline="0">
                    <a:solidFill>
                      <a:srgbClr val="FFFFFF"/>
                    </a:solidFill>
                    <a:latin typeface="Open Sans"/>
                    <a:ea typeface="+mn-ea"/>
                    <a:cs typeface="+mn-cs"/>
                  </a:defRPr>
                </a:pPr>
                <a:r>
                  <a:t>Target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Open Sans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3f14ef61-88bb-40c0-a0a9-9d08ee70e1a7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rgbClr val="FFFFFF"/>
                </a:solidFill>
                <a:latin typeface="Open Sans"/>
                <a:ea typeface="+mn-ea"/>
                <a:cs typeface="+mn-cs"/>
              </a:defRPr>
            </a:pPr>
            <a:r>
              <a:t>Cost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explosion val="0"/>
          <c:dPt>
            <c:idx val="0"/>
            <c:bubble3D val="0"/>
          </c:dPt>
          <c:dPt>
            <c:idx val="1"/>
            <c:bubble3D val="0"/>
          </c:dPt>
          <c:dPt>
            <c:idx val="2"/>
            <c:bubble3D val="0"/>
          </c:dPt>
          <c:dPt>
            <c:idx val="3"/>
            <c:bubble3D val="0"/>
          </c:dPt>
          <c:dPt>
            <c:idx val="4"/>
            <c:bubble3D val="0"/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0D2026"/>
                    </a:solidFill>
                    <a:latin typeface="Open Sans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Standards &amp; Job Descriptions</c:v>
                </c:pt>
                <c:pt idx="1">
                  <c:v>SAQF Registration</c:v>
                </c:pt>
                <c:pt idx="2">
                  <c:v>Training Programs</c:v>
                </c:pt>
                <c:pt idx="3">
                  <c:v>Incentives &amp; Campaigns</c:v>
                </c:pt>
                <c:pt idx="4">
                  <c:v>PMO &amp; QA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45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rgbClr val="FFFFFF"/>
              </a:solidFill>
              <a:latin typeface="Open Sans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349ebc6-3851-4ec1-aa51-094656b21f1d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1.png"/><Relationship Id="rId2" Type="http://schemas.openxmlformats.org/officeDocument/2006/relationships/image" Target="../media/image13.jpeg"/><Relationship Id="rId1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0.pn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2" Type="http://schemas.openxmlformats.org/officeDocument/2006/relationships/image" Target="../media/image18.jpeg"/><Relationship Id="rId1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16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5.png"/><Relationship Id="rId2" Type="http://schemas.openxmlformats.org/officeDocument/2006/relationships/image" Target="../media/image13.jpeg"/><Relationship Id="rId1" Type="http://schemas.openxmlformats.org/officeDocument/2006/relationships/image" Target="../media/image1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1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1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1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16.jpe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2.jpeg"/><Relationship Id="rId1" Type="http://schemas.openxmlformats.org/officeDocument/2006/relationships/chart" Target="../charts/char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9.pn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16.jpe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1.png"/><Relationship Id="rId2" Type="http://schemas.openxmlformats.org/officeDocument/2006/relationships/image" Target="../media/image18.jpeg"/><Relationship Id="rId1" Type="http://schemas.openxmlformats.org/officeDocument/2006/relationships/image" Target="../media/image1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16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16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image" Target="../media/image32.jpeg"/><Relationship Id="rId1" Type="http://schemas.openxmlformats.org/officeDocument/2006/relationships/chart" Target="../charts/chart3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4.png"/><Relationship Id="rId2" Type="http://schemas.openxmlformats.org/officeDocument/2006/relationships/image" Target="../media/image13.jpeg"/><Relationship Id="rId1" Type="http://schemas.openxmlformats.org/officeDocument/2006/relationships/image" Target="../media/image18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16.jpe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6.pn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16.jpeg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24.jpe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3.png"/><Relationship Id="rId2" Type="http://schemas.openxmlformats.org/officeDocument/2006/relationships/image" Target="../media/image18.jpeg"/><Relationship Id="rId1" Type="http://schemas.openxmlformats.org/officeDocument/2006/relationships/image" Target="../media/image14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560320"/>
            <a:ext cx="94457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FFFCEC"/>
                </a:solidFill>
                <a:latin typeface="Roboto"/>
              </a:defRPr>
            </a:pPr>
            <a:r>
              <a:t>Standards &amp; Qualifications for Guests of Allah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CEC"/>
                </a:solidFill>
                <a:latin typeface="Open Sans"/>
              </a:defRPr>
            </a:pPr>
            <a:r>
              <a:t>Prepared by Impetus Strategy</a:t>
            </a:r>
            <a:br/>
            <a:r>
              <a:t>Impetus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2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92620" y="2743200"/>
            <a:ext cx="41148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400" b="1">
                <a:solidFill>
                  <a:srgbClr val="FFFCEC"/>
                </a:solidFill>
                <a:latin typeface="Roboto"/>
              </a:defRPr>
            </a:pPr>
            <a:r>
              <a:t>Agenda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097280"/>
            <a:ext cx="4617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80000"/>
              </a:lnSpc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Introduction &amp; Overview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25880" y="1874520"/>
            <a:ext cx="4617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80000"/>
              </a:lnSpc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RFP Understanding &amp; Objectives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8892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25880" y="2651760"/>
            <a:ext cx="4617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80000"/>
              </a:lnSpc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Approach &amp; Methodology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66160"/>
            <a:ext cx="41148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3429000"/>
            <a:ext cx="4617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80000"/>
              </a:lnSpc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Work Plan &amp; 15-Day Timeline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43400"/>
            <a:ext cx="411480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25880" y="4206240"/>
            <a:ext cx="4617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80000"/>
              </a:lnSpc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Team &amp; Resources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120640"/>
            <a:ext cx="411480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25880" y="4983480"/>
            <a:ext cx="4617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80000"/>
              </a:lnSpc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Deliverables &amp; KPIs</a:t>
            </a:r>
          </a:p>
        </p:txBody>
      </p:sp>
      <p:sp>
        <p:nvSpPr>
          <p:cNvPr id="17" name="Diamond 1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2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12305" y="2743200"/>
            <a:ext cx="41148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5400" b="1">
                <a:solidFill>
                  <a:srgbClr val="FFFCEC"/>
                </a:solidFill>
                <a:latin typeface="Roboto"/>
              </a:defRPr>
            </a:pPr>
            <a:r>
              <a:t>Agenda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306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485900"/>
            <a:ext cx="4617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80000"/>
              </a:lnSpc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Quality &amp; Risk Management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0030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25880" y="2263140"/>
            <a:ext cx="4617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80000"/>
              </a:lnSpc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Pricing &amp; Payment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7754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25880" y="3040380"/>
            <a:ext cx="4617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80000"/>
              </a:lnSpc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Compliance &amp; Data Governance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54780"/>
            <a:ext cx="41148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3817620"/>
            <a:ext cx="4617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80000"/>
              </a:lnSpc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Why Impetus Strategy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732020"/>
            <a:ext cx="411480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25880" y="4594860"/>
            <a:ext cx="461772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80000"/>
              </a:lnSpc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Thank You</a:t>
            </a:r>
          </a:p>
        </p:txBody>
      </p:sp>
      <p:sp>
        <p:nvSpPr>
          <p:cNvPr id="15" name="Diamond 14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0" y="20116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Introduction &amp;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Company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6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914400" y="1417320"/>
            <a:ext cx="10360152" cy="4754880"/>
          </a:xfrm>
          <a:prstGeom prst="rect">
            <a:avLst/>
          </a:prstGeom>
          <a:noFill/>
        </p:spPr>
        <p:txBody>
          <a:bodyPr wrap="square" lIns="182880" rIns="45720" anchor="ctr">
            <a:spAutoFit/>
          </a:bodyPr>
          <a:lstStyle/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Develop functional standards and job descriptions for 10 priority roles serving Guests of Allah with alignment to Saudi occupational classification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Map, design, and register 10 corresponding qualifications under SAQF with outcome-based structures and compliant assessment strategies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Design and implement training programs for 1,000 candidates with provider criteria, curricula, awareness packages, and LMS-ready materials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Define incentives and enablers that increase nonprofit participation, embed monitoring, quality management, risk controls, and formal closeout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4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0" y="20116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RFP Understanding &amp; Objectives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RFP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0152" cy="4754880"/>
          </a:xfrm>
          <a:prstGeom prst="rect">
            <a:avLst/>
          </a:prstGeom>
          <a:noFill/>
        </p:spPr>
        <p:txBody>
          <a:bodyPr wrap="square" lIns="182880" rIns="45720" anchor="ctr">
            <a:spAutoFit/>
          </a:bodyPr>
          <a:lstStyle/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Develop functional standards and job descriptions for 10 priority roles serving Guests of Allah with alignment to Saudi occupational classification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Map, design, and register 10 corresponding qualifications under SAQF with outcome-based structures and compliant assessment strategies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Design and implement training programs for 1,000 candidates with provider criteria, curricula, awareness packages, and LMS-ready materials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Define incentives and enablers that increase nonprofit participation, embed monitoring, quality management, risk controls, and formal closeout</a:t>
            </a:r>
          </a:p>
        </p:txBody>
      </p:sp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0" y="20116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Approach &amp; Methodology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Framework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0152" cy="4754880"/>
          </a:xfrm>
          <a:prstGeom prst="rect">
            <a:avLst/>
          </a:prstGeom>
          <a:noFill/>
        </p:spPr>
        <p:txBody>
          <a:bodyPr wrap="square" lIns="182880" rIns="45720" anchor="ctr">
            <a:spAutoFit/>
          </a:bodyPr>
          <a:lstStyle/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Standards engineering combining occupational analysis, competency modeling, and qualification blueprinting to codify role requirements and performance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SAQF alignment with outcome-based design, assessment strategies, progression pathways, and full registration protocol compliance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Workforce enablement via training pathways, provider qualification criteria, contracting model, and operating model for scaled execution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Impact enablement through incentives and enablers mapped to stakeholder economics, feasibility assessments, and policy alignment within PMO governance</a:t>
            </a:r>
          </a:p>
        </p:txBody>
      </p:sp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Phased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0152" cy="4754880"/>
          </a:xfrm>
          <a:prstGeom prst="rect">
            <a:avLst/>
          </a:prstGeom>
          <a:noFill/>
        </p:spPr>
        <p:txBody>
          <a:bodyPr wrap="square" lIns="182880" rIns="45720" anchor="ctr">
            <a:spAutoFit/>
          </a:bodyPr>
          <a:lstStyle/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Phases 1–2 Planning and Mobilization, then Job Analysis and Role Descriptions including beneficiary journey review, functional task analysis, and benchmarking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Phase 3 SAQF Qualification Design and Registration covering purpose, outcomes, structure, assessment, progression, consultations, and formal submission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Phases 4–5 Training Programs Execution plus Incentives and Enablers including provider selection, curricula, 10 training and 10 awareness e-packages, and campaigns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Phases 6–7 Monitoring and Control with weekly tracking, KPI dashboard, quality reviews, risk refresh, followed by closure and knowledge handover</a:t>
            </a:r>
          </a:p>
        </p:txBody>
      </p:sp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Methodological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937760" cy="2011680"/>
          </a:xfrm>
          <a:prstGeom prst="roundRect">
            <a:avLst/>
          </a:prstGeom>
          <a:solidFill>
            <a:srgbClr val="B1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05740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8720" y="2697480"/>
            <a:ext cx="4389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0D2026"/>
                </a:solidFill>
                <a:latin typeface="Open Sans"/>
              </a:defRPr>
            </a:pPr>
            <a:r>
              <a:t>Evidence-based design using surveys, focus groups, and benchmarks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828800"/>
            <a:ext cx="4937760" cy="2011680"/>
          </a:xfrm>
          <a:prstGeom prst="roundRect">
            <a:avLst/>
          </a:prstGeom>
          <a:solidFill>
            <a:srgbClr val="F9D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2057400"/>
            <a:ext cx="548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1112" y="2697480"/>
            <a:ext cx="4389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0D2026"/>
                </a:solidFill>
                <a:latin typeface="Open Sans"/>
              </a:defRPr>
            </a:pPr>
            <a:r>
              <a:t>SAQF-compliant learning outcomes and assessment alignment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06240"/>
            <a:ext cx="4937760" cy="2011680"/>
          </a:xfrm>
          <a:prstGeom prst="roundRect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4434840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8720" y="5074920"/>
            <a:ext cx="4389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0D2026"/>
                </a:solidFill>
                <a:latin typeface="Open Sans"/>
              </a:defRPr>
            </a:pPr>
            <a:r>
              <a:t>Human-centered excellence for pilgrim and visitor journeys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4206240"/>
            <a:ext cx="4937760" cy="2011680"/>
          </a:xfrm>
          <a:prstGeom prst="roundRect">
            <a:avLst/>
          </a:prstGeom>
          <a:solidFill>
            <a:srgbClr val="E09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443484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11112" y="5074920"/>
            <a:ext cx="4389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0D2026"/>
                </a:solidFill>
                <a:latin typeface="Open Sans"/>
              </a:defRPr>
            </a:pPr>
            <a:r>
              <a:t>Governance, transparency, and local content adherence</a:t>
            </a:r>
          </a:p>
        </p:txBody>
      </p:sp>
      <p:sp>
        <p:nvSpPr>
          <p:cNvPr id="18" name="Diamond 17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0" y="20116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Work Plan &amp; 15-Day Timeline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15-Day Mobilization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030"/>
                <a:gridCol w="2072030"/>
                <a:gridCol w="2072030"/>
                <a:gridCol w="2072030"/>
                <a:gridCol w="2072030"/>
              </a:tblGrid>
              <a:tr h="11887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Day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Activity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Key Outputs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Dependencies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Owner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Kickoff and governance setup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Approved charter, RACI, communication plan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Contract signature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EPMO Manager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PMO templates alignment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Adopted meeting minutes, risk register, lessons learned templates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Client PMO inputs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EPMO Manager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Stakeholder mapping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Stakeholder register, engagement cadence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Kickoff complete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Managing Director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15-Day Mobilization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030"/>
                <a:gridCol w="2072030"/>
                <a:gridCol w="2072030"/>
                <a:gridCol w="2072030"/>
                <a:gridCol w="2072030"/>
              </a:tblGrid>
              <a:tr h="11887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Day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Activity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Key Outputs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Dependencies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Owner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Detailed work breakdown (WBS)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Phase-wise WBS, deliverable acceptance criteria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Governance setup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Engagement Manager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Quality plan and QA checklists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QA plan covering all deliverables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WBS finalization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Quality Lead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Risk assessment workshop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Initial risk log with mitigations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Stakeholder mapping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EPMO Manager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15-Day Mobilization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030"/>
                <a:gridCol w="2072030"/>
                <a:gridCol w="2072030"/>
                <a:gridCol w="2072030"/>
                <a:gridCol w="2072030"/>
              </a:tblGrid>
              <a:tr h="11887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Day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Activity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Key Outputs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Dependencies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Owner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Data request and access plan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Data inventory and access schedule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PMO alignment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Data Lead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Beneficiary journey review prep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Interview guides, FGD guides, survey drafts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Data access plan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Standards Lead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Provider criteria draft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Draft selection criteria for training providers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WBS/QA alignment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Training Lead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15-Day Mobilization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030"/>
                <a:gridCol w="2072030"/>
                <a:gridCol w="2072030"/>
                <a:gridCol w="2072030"/>
                <a:gridCol w="2072030"/>
              </a:tblGrid>
              <a:tr h="11887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Day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Activity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Key Outputs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Dependencies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Owner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SAQF registration blueprint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Templates for outcomes, assessment, progression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Standards framework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Educational Expert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KPI and M&amp;E framework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Draft KPIs for role impact and training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QA plan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M&amp;E Lead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Incentives/enablers framework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Option catalog and evaluation criteria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Stakeholder register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Policy Lead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15-Day Mobilization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030"/>
                <a:gridCol w="2072030"/>
                <a:gridCol w="2072030"/>
                <a:gridCol w="2072030"/>
                <a:gridCol w="2072030"/>
              </a:tblGrid>
              <a:tr h="11887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Day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Activity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Key Outputs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Dependencies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Owner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MS Project baseline schedule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Baselined plan; critical path and milestones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WBS complete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EPMO Manager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Communication &amp; reporting plan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Weekly/quarterly reporting formats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PMO templates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EPMO Manager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Mobilization closeout review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Approved Mobilization Pack; go/no-go for Phase 2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All prior outputs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Steering Committee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FFFCEC"/>
                </a:solidFill>
                <a:latin typeface="Cairo"/>
              </a:defRPr>
            </a:pPr>
            <a:r>
              <a:t>Project Timeline by Phase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71600" y="1645920"/>
          <a:ext cx="9445752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Diamond 5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Project Phases &amp;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11887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Phase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Key Activities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Duration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Key Outputs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Planning &amp; Mobilization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Charter, governance, RACI, PMO alignment, baseline schedule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2 weeks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Mobilization &amp; Inception Pack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Analysis &amp; Role Design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Beneficiary journey review, task analysis, focus groups, benchmarking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5 weeks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10 Job Description Cards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SAQF Registration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Outcomes, structure, assessment, consultations, submissions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5 weeks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10 SAQF Qualifications Registered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Project Phases &amp;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158496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Phase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Key Activities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Duration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Key Outputs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5849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Training Execution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Provider contracting, curricula, 10 training and 10 awareness e-packages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8 weeks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1,000 Candidates Trained with reports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849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Closure &amp; Handover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Final acceptance, lessons learned, archival, closeout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 week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Final Report and Handover</a:t>
                      </a:r>
                    </a:p>
                  </a:txBody>
                  <a:tcPr anchor="ctr">
                    <a:solidFill>
                      <a:srgbClr val="F7F4E7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4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0" y="20116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Team &amp; Resources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Team Structure &amp;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11887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Position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Responsibilities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Experience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Time Allocation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Managing Director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Executive sponsor, stakeholder alignment, quality oversight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15+ years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EPMO Manager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PMO governance, schedule, risks, reporting, budget control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12+ years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Engagement Manager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Lead phases 2–5, standards, SAQF, training ops, incentives design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10+ years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Team Structure &amp;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11887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Position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Responsibilities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Experience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Time Allocation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Global Projects Lead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Complex program integration, benefits realization, benchmarking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14+ years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Educational Expert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Qualification design, outcome-based assessment, accreditation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12+ years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Standards Consultant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Competency modeling, training package architecture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8+ years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Team Structure &amp;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237744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Position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Responsibilities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Experience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Time Allocation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23774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Training Coordinator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Provider liaison, cohort scheduling, logistics, reporting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7+ years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Tools, Systems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0152" cy="4754880"/>
          </a:xfrm>
          <a:prstGeom prst="rect">
            <a:avLst/>
          </a:prstGeom>
          <a:noFill/>
        </p:spPr>
        <p:txBody>
          <a:bodyPr wrap="square" lIns="182880" rIns="45720" anchor="ctr">
            <a:spAutoFit/>
          </a:bodyPr>
          <a:lstStyle/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MS Project for scheduling and critical path management with weekly updates and baseline control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Productivity suite for authoring and design including Word, PowerPoint, and PDF templates aligned to PMO standards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Data analysis and survey tools specified by PMO with validated collection, cleaning, and reporting workflows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Client platforms for archival and reporting with e-archiving, version control, and least-privilege access</a:t>
            </a:r>
          </a:p>
        </p:txBody>
      </p:sp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0" y="20116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Deliverables &amp; KPIs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Project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11887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Deliverable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Description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Timeline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Format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Mobilization &amp; Inception Pack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Charter, governance, RACI, PMO templates, baseline schedule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Week 2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PDF + XLS + MS Project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Job Standards Portfolio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Classified roles and 10 job description cards with competencies and SAQF domains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Week 8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Bound Report + Cards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SAQF Qualification Dossier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10 qualifications with outcomes, structure, assessment, and registrations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Week 14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SAQF Forms + Evidence 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Project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158496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Deliverable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Description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Timeline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Format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5849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Training Delivery Portfolio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Criteria, contracts, curricula, 10 training, 10 awareness, 10 e-packages for 1,000 candidates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Week 24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Documents + LMS Packages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849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Incentives &amp; Final Handover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Incentives roadmap, campaigns, KPI guide, archival upload, final report and acceptance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Week 26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Report + Playbooks + Presentation</a:t>
                      </a:r>
                    </a:p>
                  </a:txBody>
                  <a:tcPr anchor="ctr">
                    <a:solidFill>
                      <a:srgbClr val="F7F4E7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Key Performance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11887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KPI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Target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Measurement Method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Frequency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Standards First-Submission Acceptance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≥90%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Quality review against acceptance criteria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Per deliverable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SAQF Registration Completion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100% of 10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SAQF acceptance records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Per qualification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Training Completion Rate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≥90%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Attendance and completion tracking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Per cohort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Key Performance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158496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KPI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Target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Measurement Method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Frequency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5849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Trainee Satisfaction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≥85%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Post-training surveys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Per cohort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849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Assessment Pass Rate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≥70%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Assessment results and verification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Per cohort</a:t>
                      </a:r>
                    </a:p>
                  </a:txBody>
                  <a:tcPr anchor="ctr">
                    <a:solidFill>
                      <a:srgbClr val="F7F4E7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FFFCEC"/>
                </a:solidFill>
                <a:latin typeface="Cairo"/>
              </a:defRPr>
            </a:pPr>
            <a:r>
              <a:t>Performance Metrics Targets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71600" y="1645920"/>
          <a:ext cx="9445752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Diamond 5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0" y="20116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Quality &amp; Risk Management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Quality, Risks,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0152" cy="4754880"/>
          </a:xfrm>
          <a:prstGeom prst="rect">
            <a:avLst/>
          </a:prstGeom>
          <a:noFill/>
        </p:spPr>
        <p:txBody>
          <a:bodyPr wrap="square" lIns="182880" rIns="45720" anchor="ctr">
            <a:spAutoFit/>
          </a:bodyPr>
          <a:lstStyle/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Quality management with defined acceptance criteria per deliverable, peer reviews, SAQF and occupational classification conformance, and semiannual QA reports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Risk controls addressing data availability, stakeholder scheduling, SAQF timelines, provider readiness, and policy dependencies with mitigations and staged approvals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Monitoring cadence with weekly tracking, KPI dashboard, MS Project updates, and quality conformance reviews at agreed intervals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Formal change control via PMO with impact assessment across scope, time, cost, and quality before approval and implementation</a:t>
            </a:r>
          </a:p>
        </p:txBody>
      </p:sp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4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0" y="20116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Pricing &amp; Payment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Payment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118872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Phase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Milestone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Payment %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Timeline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Mobilization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Contract signing, inception pack approved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Week 2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Standards Delivery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10 job descriptions approved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Week 8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7F4E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SAQF Registration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10 qualifications registered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Week 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Payment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01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1584960"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Phase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Milestone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Payment %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600" b="1">
                          <a:solidFill>
                            <a:srgbClr val="FFFCEC"/>
                          </a:solidFill>
                          <a:latin typeface="Roboto"/>
                        </a:defRPr>
                      </a:pPr>
                      <a:r>
                        <a:t>Timeline</a:t>
                      </a:r>
                    </a:p>
                  </a:txBody>
                  <a:tcPr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1415C"/>
                    </a:solidFill>
                  </a:tcPr>
                </a:tc>
              </a:tr>
              <a:tr h="15849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Training Execution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Cohorts delivered and interim reports accepted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Weeks 16–24</a:t>
                      </a:r>
                    </a:p>
                  </a:txBody>
                  <a:tcPr anchor="ctr">
                    <a:lnB w="6350">
                      <a:solidFill>
                        <a:srgbClr val="C6C3B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849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Incentives &amp; Closure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Incentives package, final report, acceptance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lnR w="6350">
                      <a:solidFill>
                        <a:srgbClr val="C6C3BE"/>
                      </a:solidFill>
                    </a:lnR>
                    <a:solidFill>
                      <a:srgbClr val="F7F4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defRPr sz="1400">
                          <a:solidFill>
                            <a:srgbClr val="0D2026"/>
                          </a:solidFill>
                          <a:latin typeface="Open Sans"/>
                        </a:defRPr>
                      </a:pPr>
                      <a:r>
                        <a:t>Week 26</a:t>
                      </a:r>
                    </a:p>
                  </a:txBody>
                  <a:tcPr anchor="ctr">
                    <a:solidFill>
                      <a:srgbClr val="F7F4E7"/>
                    </a:solidFill>
                  </a:tcPr>
                </a:tc>
              </a:tr>
            </a:tbl>
          </a:graphicData>
        </a:graphic>
      </p:graphicFrame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FFFCEC"/>
                </a:solidFill>
                <a:latin typeface="Cairo"/>
              </a:defRPr>
            </a:pPr>
            <a:r>
              <a:t>Budget Allocation by Workstream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71600" y="1645920"/>
          <a:ext cx="9445752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Diamond 5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7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0" y="20116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Compliance &amp; Data Governance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Data Privacy, Security, and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0152" cy="4754880"/>
          </a:xfrm>
          <a:prstGeom prst="rect">
            <a:avLst/>
          </a:prstGeom>
          <a:noFill/>
        </p:spPr>
        <p:txBody>
          <a:bodyPr wrap="square" lIns="182880" rIns="45720" anchor="ctr">
            <a:spAutoFit/>
          </a:bodyPr>
          <a:lstStyle/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Confidentiality aligned to RFP with no public disclosure without prior written consent and controlled information sharing channels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Data handling via client-approved systems with least-privilege access and archival on the program’s e-archiving platform for traceability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IP ownership of proposal content and resulting deliverables resides with the client with reuse only by explicit written permission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RFP compliance on Arabic delivery, PMO templates, ethics, conflict of interest, localization, guarantees, and submission formatting</a:t>
            </a:r>
          </a:p>
        </p:txBody>
      </p:sp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0" y="20116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Why Impetus Strategy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Relevant Experience &amp; Case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0152" cy="4754880"/>
          </a:xfrm>
          <a:prstGeom prst="rect">
            <a:avLst/>
          </a:prstGeom>
          <a:noFill/>
        </p:spPr>
        <p:txBody>
          <a:bodyPr wrap="square" lIns="182880" rIns="45720" anchor="ctr">
            <a:spAutoFit/>
          </a:bodyPr>
          <a:lstStyle/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National social and economic surveys delivering large-scale data and policy insights across priority regions with multi-phase execution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Guests of Allah functional standards and qualification work combined with workforce training enablement and volunteer incentive frameworks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Visitor and resident experience measurement in Makkah including JLL collaboration with frameworks for iterative improvement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Social investment strategy and nonprofit strategy development including Hadyiah and SAKAN housing product design</a:t>
            </a:r>
          </a:p>
        </p:txBody>
      </p:sp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Our Value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4937760" cy="2011680"/>
          </a:xfrm>
          <a:prstGeom prst="roundRect">
            <a:avLst/>
          </a:prstGeom>
          <a:solidFill>
            <a:srgbClr val="B1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05740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8720" y="2697480"/>
            <a:ext cx="4389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0D2026"/>
                </a:solidFill>
                <a:latin typeface="Open Sans"/>
              </a:defRPr>
            </a:pPr>
            <a:r>
              <a:t>Integrated methodology spanning standards, SAQF, training, and incentives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828800"/>
            <a:ext cx="4937760" cy="2011680"/>
          </a:xfrm>
          <a:prstGeom prst="roundRect">
            <a:avLst/>
          </a:prstGeom>
          <a:solidFill>
            <a:srgbClr val="F9D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2057400"/>
            <a:ext cx="548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1112" y="2697480"/>
            <a:ext cx="4389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0D2026"/>
                </a:solidFill>
                <a:latin typeface="Open Sans"/>
              </a:defRPr>
            </a:pPr>
            <a:r>
              <a:t>PMO-first governance with rigorous QA and measurable KPIs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06240"/>
            <a:ext cx="4937760" cy="2011680"/>
          </a:xfrm>
          <a:prstGeom prst="roundRect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4434840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8720" y="5074920"/>
            <a:ext cx="4389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0D2026"/>
                </a:solidFill>
                <a:latin typeface="Open Sans"/>
              </a:defRPr>
            </a:pPr>
            <a:r>
              <a:t>Localized impact-driven team with rapid mobilization capability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4206240"/>
            <a:ext cx="4937760" cy="2011680"/>
          </a:xfrm>
          <a:prstGeom prst="roundRect">
            <a:avLst/>
          </a:prstGeom>
          <a:solidFill>
            <a:srgbClr val="E09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443484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11112" y="5074920"/>
            <a:ext cx="4389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0D2026"/>
                </a:solidFill>
                <a:latin typeface="Open Sans"/>
              </a:defRPr>
            </a:pPr>
            <a:r>
              <a:t>Proven delivery on Guests of Allah initiatives at scale</a:t>
            </a:r>
          </a:p>
        </p:txBody>
      </p:sp>
      <p:sp>
        <p:nvSpPr>
          <p:cNvPr id="18" name="Diamond 17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4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0" y="20116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  <a:defRPr sz="3600" b="1">
                <a:solidFill>
                  <a:srgbClr val="FFFCEC"/>
                </a:solidFill>
                <a:latin typeface="Cairo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8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3200" b="1">
                <a:solidFill>
                  <a:srgbClr val="0D2026"/>
                </a:solidFill>
                <a:latin typeface="Cairo"/>
              </a:defRPr>
            </a:pPr>
            <a: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19"/>
            <a:ext cx="8778240" cy="18288"/>
          </a:xfrm>
          <a:prstGeom prst="rect">
            <a:avLst/>
          </a:prstGeom>
          <a:solidFill>
            <a:srgbClr val="014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0152" cy="4754880"/>
          </a:xfrm>
          <a:prstGeom prst="rect">
            <a:avLst/>
          </a:prstGeom>
          <a:noFill/>
        </p:spPr>
        <p:txBody>
          <a:bodyPr wrap="square" lIns="182880" rIns="45720" anchor="ctr">
            <a:spAutoFit/>
          </a:bodyPr>
          <a:lstStyle/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Schedule a technical deep dive on standards engineering, SAQF registration workflow, and training operating model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Confirm governance contacts, reporting cadence, and PMO templates to align mobilization and decision gates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Kick off 15-day mobilization to deliver the approved Mobilization Pack and go or no-go for Phase 2</a:t>
            </a:r>
          </a:p>
          <a:p>
            <a:pPr algn="l">
              <a:lnSpc>
                <a:spcPct val="175000"/>
              </a:lnSpc>
              <a:spcBef>
                <a:spcPts val="600"/>
              </a:spcBef>
              <a:spcAft>
                <a:spcPts val="600"/>
              </a:spcAft>
              <a:buClr>
                <a:srgbClr val="01415C"/>
              </a:buClr>
              <a:buFont typeface="Open Sans"/>
              <a:buChar char="●"/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Agree on stakeholder access windows, data requests, and workshop logistics for phases 2–4</a:t>
            </a:r>
          </a:p>
        </p:txBody>
      </p:sp>
      <p:sp>
        <p:nvSpPr>
          <p:cNvPr id="7" name="Diamond 6"/>
          <p:cNvSpPr/>
          <p:nvPr/>
        </p:nvSpPr>
        <p:spPr>
          <a:xfrm>
            <a:off x="182880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11318</Words>
  <Application>WPS Presentation</Application>
  <PresentationFormat>On-screen Show (4:3)</PresentationFormat>
  <Paragraphs>741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7" baseType="lpstr">
      <vt:lpstr>Arial</vt:lpstr>
      <vt:lpstr>SimSun</vt:lpstr>
      <vt:lpstr>Wingdings</vt:lpstr>
      <vt:lpstr>Arial</vt:lpstr>
      <vt:lpstr>Roboto</vt:lpstr>
      <vt:lpstr>Times New Roman</vt:lpstr>
      <vt:lpstr>Open Sans</vt:lpstr>
      <vt:lpstr>Cairo</vt:lpstr>
      <vt:lpstr>LathaRegular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Dharani Eswaramurthi</cp:lastModifiedBy>
  <cp:revision>2</cp:revision>
  <dcterms:created xsi:type="dcterms:W3CDTF">2013-01-27T09:14:00Z</dcterms:created>
  <dcterms:modified xsi:type="dcterms:W3CDTF">2026-02-02T10:44:53Z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99780DE7E68B42D88E9F40867CC5BB08_12</vt:lpwstr>
  </property>
  <property fmtid="{D5CDD505-2E9C-101B-9397-08002B2CF9AE}" pid="3" name="KSOProductBuildVer">
    <vt:lpwstr>1033-12.2.0.23196</vt:lpwstr>
  </property>
</Properties>
</file>