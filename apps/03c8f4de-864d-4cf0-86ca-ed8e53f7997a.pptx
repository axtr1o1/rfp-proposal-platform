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5"/>
    <p:sldId id="298" r:id="rId4"/>
    <p:sldId id="299" r:id="rId3"/>
    <p:sldId id="300" r:id="rId50"/>
    <p:sldId id="301" r:id="rId51"/>
    <p:sldId id="302" r:id="rId52"/>
    <p:sldId id="303" r:id="rId53"/>
    <p:sldId id="304" r:id="rId54"/>
    <p:sldId id="305" r:id="rId55"/>
    <p:sldId id="306" r:id="rId5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44.xml"/><Relationship Id="rId4" Type="http://schemas.openxmlformats.org/officeDocument/2006/relationships/slide" Target="slides/slide43.xml"/><Relationship Id="rId5" Type="http://schemas.openxmlformats.org/officeDocument/2006/relationships/slide" Target="slides/slide4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ableStyles" Target="tableStyles.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1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slide_3a6e43c9.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371600" y="2560320"/>
            <a:ext cx="9445752" cy="1371600"/>
          </a:xfrm>
          <a:prstGeom prst="rect">
            <a:avLst/>
          </a:prstGeom>
          <a:noFill/>
        </p:spPr>
        <p:txBody>
          <a:bodyPr wrap="square">
            <a:spAutoFit/>
          </a:bodyPr>
          <a:lstStyle/>
          <a:p>
            <a:pPr algn="ctr">
              <a:defRPr sz="4000" b="1">
                <a:solidFill>
                  <a:srgbClr val="FFFCEC"/>
                </a:solidFill>
                <a:latin typeface="Roboto"/>
              </a:defRPr>
            </a:pPr>
            <a:r>
              <a:t>Guests of Allah Workforce Standards &amp; Enablement</a:t>
            </a:r>
          </a:p>
        </p:txBody>
      </p:sp>
      <p:sp>
        <p:nvSpPr>
          <p:cNvPr id="4" name="TextBox 3"/>
          <p:cNvSpPr txBox="1"/>
          <p:nvPr/>
        </p:nvSpPr>
        <p:spPr>
          <a:xfrm>
            <a:off x="1828800" y="4114800"/>
            <a:ext cx="8531352" cy="914400"/>
          </a:xfrm>
          <a:prstGeom prst="rect">
            <a:avLst/>
          </a:prstGeom>
          <a:noFill/>
        </p:spPr>
        <p:txBody>
          <a:bodyPr wrap="square">
            <a:spAutoFit/>
          </a:bodyPr>
          <a:lstStyle/>
          <a:p>
            <a:pPr algn="ctr">
              <a:defRPr sz="2400" b="0">
                <a:solidFill>
                  <a:srgbClr val="FFFCEC"/>
                </a:solidFill>
                <a:latin typeface="Open Sans"/>
              </a:defRPr>
            </a:pPr>
            <a:r>
              <a:t>Prepared by Impetus Strategy</a:t>
            </a:r>
            <a:br/>
            <a:r>
              <a:t>Impetus Strategy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01cc616140b5.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Agenda</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Executive Summary</a:t>
            </a:r>
          </a:p>
          <a:p>
            <a:pPr algn="l">
              <a:defRPr sz="1800" b="0">
                <a:solidFill>
                  <a:srgbClr val="0D2026"/>
                </a:solidFill>
                <a:latin typeface="Open Sans"/>
              </a:defRPr>
            </a:pPr>
            <a:r>
              <a:t>• Company Introduction</a:t>
            </a:r>
          </a:p>
          <a:p>
            <a:pPr algn="l">
              <a:defRPr sz="1800" b="0">
                <a:solidFill>
                  <a:srgbClr val="0D2026"/>
                </a:solidFill>
                <a:latin typeface="Open Sans"/>
              </a:defRPr>
            </a:pPr>
            <a:r>
              <a:t>• Understanding of the RFP and Objectives</a:t>
            </a:r>
          </a:p>
          <a:p>
            <a:pPr algn="l">
              <a:defRPr sz="1800" b="0">
                <a:solidFill>
                  <a:srgbClr val="0D2026"/>
                </a:solidFill>
                <a:latin typeface="Open Sans"/>
              </a:defRPr>
            </a:pPr>
            <a:r>
              <a:t>• Technical Approach and Methodology</a:t>
            </a:r>
          </a:p>
          <a:p>
            <a:pPr algn="l">
              <a:defRPr sz="1800" b="0">
                <a:solidFill>
                  <a:srgbClr val="0D2026"/>
                </a:solidFill>
                <a:latin typeface="Open Sans"/>
              </a:defRPr>
            </a:pPr>
            <a:r>
              <a:t>• Project Architecture</a:t>
            </a:r>
          </a:p>
          <a:p>
            <a:pPr algn="l">
              <a:defRPr sz="1800" b="0">
                <a:solidFill>
                  <a:srgbClr val="0D2026"/>
                </a:solidFill>
                <a:latin typeface="Open Sans"/>
              </a:defRPr>
            </a:pPr>
            <a:r>
              <a:t>• Work Plan, Timeline, and Milestones</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0f392e8bfb09.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Agenda</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Project Team and Roles</a:t>
            </a:r>
          </a:p>
          <a:p>
            <a:pPr algn="l">
              <a:defRPr sz="1800" b="0">
                <a:solidFill>
                  <a:srgbClr val="0D2026"/>
                </a:solidFill>
                <a:latin typeface="Open Sans"/>
              </a:defRPr>
            </a:pPr>
            <a:r>
              <a:t>• Quality Assurance and Risk Management</a:t>
            </a:r>
          </a:p>
          <a:p>
            <a:pPr algn="l">
              <a:defRPr sz="1800" b="0">
                <a:solidFill>
                  <a:srgbClr val="0D2026"/>
                </a:solidFill>
                <a:latin typeface="Open Sans"/>
              </a:defRPr>
            </a:pPr>
            <a:r>
              <a:t>• KPIs and Service Levels</a:t>
            </a:r>
          </a:p>
          <a:p>
            <a:pPr algn="l">
              <a:defRPr sz="1800" b="0">
                <a:solidFill>
                  <a:srgbClr val="0D2026"/>
                </a:solidFill>
                <a:latin typeface="Open Sans"/>
              </a:defRPr>
            </a:pPr>
            <a:r>
              <a:t>• Data Privacy, Security, and IP</a:t>
            </a:r>
          </a:p>
          <a:p>
            <a:pPr algn="l">
              <a:defRPr sz="1800" b="0">
                <a:solidFill>
                  <a:srgbClr val="0D2026"/>
                </a:solidFill>
                <a:latin typeface="Open Sans"/>
              </a:defRPr>
            </a:pPr>
            <a:r>
              <a:t>• Compliance with RFP Requirements</a:t>
            </a:r>
          </a:p>
          <a:p>
            <a:pPr algn="l">
              <a:defRPr sz="1800" b="0">
                <a:solidFill>
                  <a:srgbClr val="0D2026"/>
                </a:solidFill>
                <a:latin typeface="Open Sans"/>
              </a:defRPr>
            </a:pPr>
            <a:r>
              <a:t>• Deliverables Summary</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146ba828d85e.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Agenda</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Assumptions</a:t>
            </a:r>
          </a:p>
          <a:p>
            <a:pPr algn="l">
              <a:defRPr sz="1800" b="0">
                <a:solidFill>
                  <a:srgbClr val="0D2026"/>
                </a:solidFill>
                <a:latin typeface="Open Sans"/>
              </a:defRPr>
            </a:pPr>
            <a:r>
              <a:t>• Pricing Approach (Summary)</a:t>
            </a:r>
          </a:p>
          <a:p>
            <a:pPr algn="l">
              <a:defRPr sz="1800" b="0">
                <a:solidFill>
                  <a:srgbClr val="0D2026"/>
                </a:solidFill>
                <a:latin typeface="Open Sans"/>
              </a:defRPr>
            </a:pPr>
            <a:r>
              <a:t>• Relevant Experience and Case Evidence</a:t>
            </a:r>
          </a:p>
          <a:p>
            <a:pPr algn="l">
              <a:defRPr sz="1800" b="0">
                <a:solidFill>
                  <a:srgbClr val="0D2026"/>
                </a:solidFill>
                <a:latin typeface="Open Sans"/>
              </a:defRPr>
            </a:pPr>
            <a:r>
              <a:t>• Why Impetus Strategy</a:t>
            </a:r>
          </a:p>
          <a:p>
            <a:pPr algn="l">
              <a:defRPr sz="1800" b="0">
                <a:solidFill>
                  <a:srgbClr val="0D2026"/>
                </a:solidFill>
                <a:latin typeface="Open Sans"/>
              </a:defRPr>
            </a:pPr>
            <a:r>
              <a:t>• Thank You</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ae7e274004f8.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Executive Summary</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1921156f5d41.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Program overview</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Impetus Strategy proposes a 30‑month program in Riyadh to define functional standards for 10 priority roles, register and SAQF‑level 10 qualifications, and upskill 1,000 practitioners through awareness, instructor‑led, and interactive e‑learning. Delivery mirrors a seven‑phase lifecycle with robust governance, quality assurance, risk management, weekly tracking, MS Project schedules, and reporting aligned to Ministry PMO templates.</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e56fc5d8ab1b.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Company Introduction</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41cba2c0c465.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Who we are</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Impetus Strategy is a management consulting firm specialized in social and economic development, impact strategy, public sector transformation, and non‑profit enablement. We operate across Riyadh, Jeddah, Makkah, Cairo, Dar es Salaam, Kuala Lumpur, and Jakarta, combining strategy, governance, data, and learning solutions to translate Vision 2030 priorities into operational programs.</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46e79684d78b.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Core capabilities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Strategy, governance, and ecosystem design for national programs and multi‑stakeholder coalitions</a:t>
            </a:r>
          </a:p>
          <a:p>
            <a:pPr algn="l">
              <a:defRPr sz="1800" b="0">
                <a:solidFill>
                  <a:srgbClr val="0D2026"/>
                </a:solidFill>
                <a:latin typeface="Open Sans"/>
              </a:defRPr>
            </a:pPr>
            <a:r>
              <a:t>• Social and economic development, impact frameworks, and sustainability integration across portfolios</a:t>
            </a:r>
          </a:p>
          <a:p>
            <a:pPr algn="l">
              <a:defRPr sz="1800" b="0">
                <a:solidFill>
                  <a:srgbClr val="0D2026"/>
                </a:solidFill>
                <a:latin typeface="Open Sans"/>
              </a:defRPr>
            </a:pPr>
            <a:r>
              <a:t>• Digital social development with data analytics, evidence generation, and insight‑driven decision support</a:t>
            </a:r>
          </a:p>
          <a:p>
            <a:pPr algn="l">
              <a:defRPr sz="1800" b="0">
                <a:solidFill>
                  <a:srgbClr val="0D2026"/>
                </a:solidFill>
                <a:latin typeface="Open Sans"/>
              </a:defRPr>
            </a:pPr>
            <a:r>
              <a:t>• Stakeholder enablement and impact investment partnerships to scale service delivery and outcomes</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4b040caf1aed.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Understanding of the RFP and Objectives</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57ed98ee057a.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Objectives and expected outcomes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Build functional standards and detailed job descriptions for 10 priority roles and register SAQF‑leveled qualifications</a:t>
            </a:r>
          </a:p>
          <a:p>
            <a:pPr algn="l">
              <a:defRPr sz="1800" b="0">
                <a:solidFill>
                  <a:srgbClr val="0D2026"/>
                </a:solidFill>
                <a:latin typeface="Open Sans"/>
              </a:defRPr>
            </a:pPr>
            <a:r>
              <a:t>• Implement training pathways for 1,000 candidates with awareness, instructor‑led, and e‑learning delivery modes</a:t>
            </a:r>
          </a:p>
          <a:p>
            <a:pPr algn="l">
              <a:defRPr sz="1800" b="0">
                <a:solidFill>
                  <a:srgbClr val="0D2026"/>
                </a:solidFill>
                <a:latin typeface="Open Sans"/>
              </a:defRPr>
            </a:pPr>
            <a:r>
              <a:t>• Define incentives and enablers to broaden non‑profit participation while institutionalizing monitoring and quality</a:t>
            </a:r>
          </a:p>
          <a:p>
            <a:pPr algn="l">
              <a:defRPr sz="1800" b="0">
                <a:solidFill>
                  <a:srgbClr val="0D2026"/>
                </a:solidFill>
                <a:latin typeface="Open Sans"/>
              </a:defRPr>
            </a:pPr>
            <a:r>
              <a:t>• Achieve elevated service quality, transparent HR standards, better education alignment, and sustained capability transfer</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cc065a161fdf.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Technical Approach and Methodology</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6c1bfeaf1547.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Framework overview</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Evidence‑led job analysis anchored to service journeys and program objectives with benchmarking and triangulation</a:t>
            </a:r>
          </a:p>
          <a:p>
            <a:pPr algn="l">
              <a:defRPr sz="1800" b="0">
                <a:solidFill>
                  <a:srgbClr val="0D2026"/>
                </a:solidFill>
                <a:latin typeface="Open Sans"/>
              </a:defRPr>
            </a:pPr>
            <a:r>
              <a:t>• SAQF‑compliant qualification design with explicit learning outcomes, assessment strategy, and progression pathways</a:t>
            </a:r>
          </a:p>
          <a:p>
            <a:pPr algn="l">
              <a:defRPr sz="1800" b="0">
                <a:solidFill>
                  <a:srgbClr val="0D2026"/>
                </a:solidFill>
                <a:latin typeface="Open Sans"/>
              </a:defRPr>
            </a:pPr>
            <a:r>
              <a:t>• Multi‑modal learning pathways including awareness, instructor‑led sessions, and interactive e‑learning packages</a:t>
            </a:r>
          </a:p>
          <a:p>
            <a:pPr algn="l">
              <a:defRPr sz="1800" b="0">
                <a:solidFill>
                  <a:srgbClr val="0D2026"/>
                </a:solidFill>
                <a:latin typeface="Open Sans"/>
              </a:defRPr>
            </a:pPr>
            <a:r>
              <a:t>• Incentives and enablers to catalyze sector participation with embedded QA, M&amp;E, and risk management</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95fd1e1204b7.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Methodological pillars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Evidence and benchmarking: surveys, interviews, comparative references</a:t>
            </a:r>
          </a:p>
          <a:p>
            <a:pPr algn="l">
              <a:defRPr sz="1800" b="0">
                <a:solidFill>
                  <a:srgbClr val="0D2026"/>
                </a:solidFill>
                <a:latin typeface="Open Sans"/>
              </a:defRPr>
            </a:pPr>
            <a:r>
              <a:t>• Standards‑driven design: SAQF alignment and occupation taxonomy mapping</a:t>
            </a:r>
          </a:p>
          <a:p>
            <a:pPr algn="l">
              <a:defRPr sz="1800" b="0">
                <a:solidFill>
                  <a:srgbClr val="0D2026"/>
                </a:solidFill>
                <a:latin typeface="Open Sans"/>
              </a:defRPr>
            </a:pPr>
            <a:r>
              <a:t>• Learning science: competency outcomes and assessment‑for‑learning</a:t>
            </a:r>
          </a:p>
          <a:p>
            <a:pPr algn="l">
              <a:defRPr sz="1800" b="0">
                <a:solidFill>
                  <a:srgbClr val="0D2026"/>
                </a:solidFill>
                <a:latin typeface="Open Sans"/>
              </a:defRPr>
            </a:pPr>
            <a:r>
              <a:t>• Governance and quality: gate reviews and change control</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9a2209e06283.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Phased methodology</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Phases 1–2: Initiation and job analysis with charter, governance, risk and quality plans, workshops, surveys, journey mapping, and top 10 roles selection</a:t>
            </a:r>
          </a:p>
          <a:p>
            <a:pPr algn="l">
              <a:defRPr sz="1800" b="0">
                <a:solidFill>
                  <a:srgbClr val="0D2026"/>
                </a:solidFill>
                <a:latin typeface="Open Sans"/>
              </a:defRPr>
            </a:pPr>
            <a:r>
              <a:t>• Phase 3: SAQF qualification design and levelling with purpose, outcomes, assessment, progression, stakeholder input, and formal registration</a:t>
            </a:r>
          </a:p>
          <a:p>
            <a:pPr algn="l">
              <a:defRPr sz="1800" b="0">
                <a:solidFill>
                  <a:srgbClr val="0D2026"/>
                </a:solidFill>
                <a:latin typeface="Open Sans"/>
              </a:defRPr>
            </a:pPr>
            <a:r>
              <a:t>• Phase 4: Program execution for 1,000 candidates with provider selection, partnerships, contracting templates, governance, and M&amp;E</a:t>
            </a:r>
          </a:p>
          <a:p>
            <a:pPr algn="l">
              <a:defRPr sz="1800" b="0">
                <a:solidFill>
                  <a:srgbClr val="0D2026"/>
                </a:solidFill>
                <a:latin typeface="Open Sans"/>
              </a:defRPr>
            </a:pPr>
            <a:r>
              <a:t>• Phases 5–7: Incentives and enablers, monitoring and control with dashboards and QA, and closure with final acceptance and handover</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bcaef01f0807.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Project Architecture</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aca8a9f88a06.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System components and integration</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Governance via Steering Committee, PMO templates, decision logs, and gate reviews aligned to Ministry standards</a:t>
            </a:r>
          </a:p>
          <a:p>
            <a:pPr algn="l">
              <a:defRPr sz="1800" b="0">
                <a:solidFill>
                  <a:srgbClr val="0D2026"/>
                </a:solidFill>
                <a:latin typeface="Open Sans"/>
              </a:defRPr>
            </a:pPr>
            <a:r>
              <a:t>• Delivery engine with workstreams for job analysis, SAQF design, training, incentives, and M&amp;E or QA</a:t>
            </a:r>
          </a:p>
          <a:p>
            <a:pPr algn="l">
              <a:defRPr sz="1800" b="0">
                <a:solidFill>
                  <a:srgbClr val="0D2026"/>
                </a:solidFill>
                <a:latin typeface="Open Sans"/>
              </a:defRPr>
            </a:pPr>
            <a:r>
              <a:t>• Knowledge hub repository with version control for artifacts, curricula, evidence, and registered outputs</a:t>
            </a:r>
          </a:p>
          <a:p>
            <a:pPr algn="l">
              <a:defRPr sz="1800" b="0">
                <a:solidFill>
                  <a:srgbClr val="0D2026"/>
                </a:solidFill>
                <a:latin typeface="Open Sans"/>
              </a:defRPr>
            </a:pPr>
            <a:r>
              <a:t>• Integration with Ministry systems for archiving and reporting with weekly status, quarterly and semi‑annual QA updates</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a7156adb50cc.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Work Plan, Timeline, and Milestones</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1e27c305.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b7eddfefa3e2.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Project timeline by phase</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iamond 5"/>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cd78d0d3ca36.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Project Phases &amp; Timeline</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645920"/>
          <a:ext cx="10360152" cy="4754880"/>
        </p:xfrm>
        <a:graphic>
          <a:graphicData uri="http://schemas.openxmlformats.org/drawingml/2006/table">
            <a:tbl>
              <a:tblPr firstRow="1" bandRow="1">
                <a:tableStyleId>{5C22544A-7EE6-4342-B048-85BDC9FD1C3A}</a:tableStyleId>
              </a:tblPr>
              <a:tblGrid>
                <a:gridCol w="2590038"/>
                <a:gridCol w="2590038"/>
                <a:gridCol w="2590038"/>
                <a:gridCol w="2590038"/>
              </a:tblGrid>
              <a:tr h="950976">
                <a:tc>
                  <a:txBody>
                    <a:bodyPr/>
                    <a:lstStyle/>
                    <a:p>
                      <a:pPr>
                        <a:defRPr b="1" sz="1400">
                          <a:latin typeface="Cairo"/>
                        </a:defRPr>
                      </a:pPr>
                      <a:r>
                        <a:t>Phase</a:t>
                      </a:r>
                    </a:p>
                  </a:txBody>
                  <a:tcPr/>
                </a:tc>
                <a:tc>
                  <a:txBody>
                    <a:bodyPr/>
                    <a:lstStyle/>
                    <a:p>
                      <a:pPr>
                        <a:defRPr b="1" sz="1400">
                          <a:latin typeface="Cairo"/>
                        </a:defRPr>
                      </a:pPr>
                      <a:r>
                        <a:t>Key Activities</a:t>
                      </a:r>
                    </a:p>
                  </a:txBody>
                  <a:tcPr/>
                </a:tc>
                <a:tc>
                  <a:txBody>
                    <a:bodyPr/>
                    <a:lstStyle/>
                    <a:p>
                      <a:pPr>
                        <a:defRPr b="1" sz="1400">
                          <a:latin typeface="Cairo"/>
                        </a:defRPr>
                      </a:pPr>
                      <a:r>
                        <a:t>Duration</a:t>
                      </a:r>
                    </a:p>
                  </a:txBody>
                  <a:tcPr/>
                </a:tc>
                <a:tc>
                  <a:txBody>
                    <a:bodyPr/>
                    <a:lstStyle/>
                    <a:p>
                      <a:pPr>
                        <a:defRPr b="1" sz="1400">
                          <a:latin typeface="Cairo"/>
                        </a:defRPr>
                      </a:pPr>
                      <a:r>
                        <a:t>Key Outputs</a:t>
                      </a:r>
                    </a:p>
                  </a:txBody>
                  <a:tcPr/>
                </a:tc>
              </a:tr>
              <a:tr h="950976">
                <a:tc>
                  <a:txBody>
                    <a:bodyPr/>
                    <a:lstStyle/>
                    <a:p>
                      <a:pPr>
                        <a:defRPr sz="1200">
                          <a:latin typeface="Open Sans"/>
                        </a:defRPr>
                      </a:pPr>
                      <a:r>
                        <a:t>Phase</a:t>
                      </a:r>
                    </a:p>
                  </a:txBody>
                  <a:tcPr/>
                </a:tc>
                <a:tc>
                  <a:txBody>
                    <a:bodyPr/>
                    <a:lstStyle/>
                    <a:p>
                      <a:pPr>
                        <a:defRPr sz="1200">
                          <a:latin typeface="Open Sans"/>
                        </a:defRPr>
                      </a:pPr>
                      <a:r>
                        <a:t>Key Activities</a:t>
                      </a:r>
                    </a:p>
                  </a:txBody>
                  <a:tcPr/>
                </a:tc>
                <a:tc>
                  <a:txBody>
                    <a:bodyPr/>
                    <a:lstStyle/>
                    <a:p>
                      <a:pPr>
                        <a:defRPr sz="1200">
                          <a:latin typeface="Open Sans"/>
                        </a:defRPr>
                      </a:pPr>
                      <a:r>
                        <a:t>Duration</a:t>
                      </a:r>
                    </a:p>
                  </a:txBody>
                  <a:tcPr/>
                </a:tc>
                <a:tc>
                  <a:txBody>
                    <a:bodyPr/>
                    <a:lstStyle/>
                    <a:p>
                      <a:pPr>
                        <a:defRPr sz="1200">
                          <a:latin typeface="Open Sans"/>
                        </a:defRPr>
                      </a:pPr>
                      <a:r>
                        <a:t>Key Outputs</a:t>
                      </a:r>
                    </a:p>
                  </a:txBody>
                  <a:tcPr/>
                </a:tc>
              </a:tr>
              <a:tr h="950976">
                <a:tc>
                  <a:txBody>
                    <a:bodyPr/>
                    <a:lstStyle/>
                    <a:p>
                      <a:pPr>
                        <a:defRPr sz="1200">
                          <a:latin typeface="Open Sans"/>
                        </a:defRPr>
                      </a:pPr>
                      <a:r>
                        <a:t>Planning</a:t>
                      </a:r>
                    </a:p>
                  </a:txBody>
                  <a:tcPr/>
                </a:tc>
                <a:tc>
                  <a:txBody>
                    <a:bodyPr/>
                    <a:lstStyle/>
                    <a:p>
                      <a:pPr>
                        <a:defRPr sz="1200">
                          <a:latin typeface="Open Sans"/>
                        </a:defRPr>
                      </a:pPr>
                      <a:r>
                        <a:t>Charter, governance, MS Project baseline, QA plan, risk register</a:t>
                      </a:r>
                    </a:p>
                  </a:txBody>
                  <a:tcPr/>
                </a:tc>
                <a:tc>
                  <a:txBody>
                    <a:bodyPr/>
                    <a:lstStyle/>
                    <a:p>
                      <a:pPr>
                        <a:defRPr sz="1200">
                          <a:latin typeface="Open Sans"/>
                        </a:defRPr>
                      </a:pPr>
                      <a:r>
                        <a:t>3 months</a:t>
                      </a:r>
                    </a:p>
                  </a:txBody>
                  <a:tcPr/>
                </a:tc>
                <a:tc>
                  <a:txBody>
                    <a:bodyPr/>
                    <a:lstStyle/>
                    <a:p>
                      <a:pPr>
                        <a:defRPr sz="1200">
                          <a:latin typeface="Open Sans"/>
                        </a:defRPr>
                      </a:pPr>
                      <a:r>
                        <a:t>Inception and execution plan</a:t>
                      </a:r>
                    </a:p>
                  </a:txBody>
                  <a:tcPr/>
                </a:tc>
              </a:tr>
              <a:tr h="950976">
                <a:tc>
                  <a:txBody>
                    <a:bodyPr/>
                    <a:lstStyle/>
                    <a:p>
                      <a:pPr>
                        <a:defRPr sz="1200">
                          <a:latin typeface="Open Sans"/>
                        </a:defRPr>
                      </a:pPr>
                      <a:r>
                        <a:t>Job Analysis</a:t>
                      </a:r>
                    </a:p>
                  </a:txBody>
                  <a:tcPr/>
                </a:tc>
                <a:tc>
                  <a:txBody>
                    <a:bodyPr/>
                    <a:lstStyle/>
                    <a:p>
                      <a:pPr>
                        <a:defRPr sz="1200">
                          <a:latin typeface="Open Sans"/>
                        </a:defRPr>
                      </a:pPr>
                      <a:r>
                        <a:t>Stakeholder engagement, data collection, journey mapping, benchmarking</a:t>
                      </a:r>
                    </a:p>
                  </a:txBody>
                  <a:tcPr/>
                </a:tc>
                <a:tc>
                  <a:txBody>
                    <a:bodyPr/>
                    <a:lstStyle/>
                    <a:p>
                      <a:pPr>
                        <a:defRPr sz="1200">
                          <a:latin typeface="Open Sans"/>
                        </a:defRPr>
                      </a:pPr>
                      <a:r>
                        <a:t>6 months</a:t>
                      </a:r>
                    </a:p>
                  </a:txBody>
                  <a:tcPr/>
                </a:tc>
                <a:tc>
                  <a:txBody>
                    <a:bodyPr/>
                    <a:lstStyle/>
                    <a:p>
                      <a:pPr>
                        <a:defRPr sz="1200">
                          <a:latin typeface="Open Sans"/>
                        </a:defRPr>
                      </a:pPr>
                      <a:r>
                        <a:t>10 prioritized roles and job cards</a:t>
                      </a:r>
                    </a:p>
                  </a:txBody>
                  <a:tcPr/>
                </a:tc>
              </a:tr>
              <a:tr h="950976">
                <a:tc>
                  <a:txBody>
                    <a:bodyPr/>
                    <a:lstStyle/>
                    <a:p>
                      <a:pPr>
                        <a:defRPr sz="1200">
                          <a:latin typeface="Open Sans"/>
                        </a:defRPr>
                      </a:pPr>
                      <a:r>
                        <a:t>SAQF Design</a:t>
                      </a:r>
                    </a:p>
                  </a:txBody>
                  <a:tcPr/>
                </a:tc>
                <a:tc>
                  <a:txBody>
                    <a:bodyPr/>
                    <a:lstStyle/>
                    <a:p>
                      <a:pPr>
                        <a:defRPr sz="1200">
                          <a:latin typeface="Open Sans"/>
                        </a:defRPr>
                      </a:pPr>
                      <a:r>
                        <a:t>Qualification design, outcomes, assessment, registration submissions</a:t>
                      </a:r>
                    </a:p>
                  </a:txBody>
                  <a:tcPr/>
                </a:tc>
                <a:tc>
                  <a:txBody>
                    <a:bodyPr/>
                    <a:lstStyle/>
                    <a:p>
                      <a:pPr>
                        <a:defRPr sz="1200">
                          <a:latin typeface="Open Sans"/>
                        </a:defRPr>
                      </a:pPr>
                      <a:r>
                        <a:t>7 months</a:t>
                      </a:r>
                    </a:p>
                  </a:txBody>
                  <a:tcPr/>
                </a:tc>
                <a:tc>
                  <a:txBody>
                    <a:bodyPr/>
                    <a:lstStyle/>
                    <a:p>
                      <a:pPr>
                        <a:defRPr sz="1200">
                          <a:latin typeface="Open Sans"/>
                        </a:defRPr>
                      </a:pPr>
                      <a:r>
                        <a:t>10 SAQF‑registered qualifications</a:t>
                      </a:r>
                    </a:p>
                  </a:txBody>
                  <a:tcPr/>
                </a:tc>
              </a:tr>
            </a:tbl>
          </a:graphicData>
        </a:graphic>
      </p:graphicFrame>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db9f78a7fcbb.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Project Phases &amp; Timeline</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645920"/>
          <a:ext cx="10360152" cy="4754880"/>
        </p:xfrm>
        <a:graphic>
          <a:graphicData uri="http://schemas.openxmlformats.org/drawingml/2006/table">
            <a:tbl>
              <a:tblPr firstRow="1" bandRow="1">
                <a:tableStyleId>{5C22544A-7EE6-4342-B048-85BDC9FD1C3A}</a:tableStyleId>
              </a:tblPr>
              <a:tblGrid>
                <a:gridCol w="2590038"/>
                <a:gridCol w="2590038"/>
                <a:gridCol w="2590038"/>
                <a:gridCol w="2590038"/>
              </a:tblGrid>
              <a:tr h="1188720">
                <a:tc>
                  <a:txBody>
                    <a:bodyPr/>
                    <a:lstStyle/>
                    <a:p>
                      <a:pPr>
                        <a:defRPr b="1" sz="1400">
                          <a:latin typeface="Cairo"/>
                        </a:defRPr>
                      </a:pPr>
                      <a:r>
                        <a:t>Phase</a:t>
                      </a:r>
                    </a:p>
                  </a:txBody>
                  <a:tcPr/>
                </a:tc>
                <a:tc>
                  <a:txBody>
                    <a:bodyPr/>
                    <a:lstStyle/>
                    <a:p>
                      <a:pPr>
                        <a:defRPr b="1" sz="1400">
                          <a:latin typeface="Cairo"/>
                        </a:defRPr>
                      </a:pPr>
                      <a:r>
                        <a:t>Key Activities</a:t>
                      </a:r>
                    </a:p>
                  </a:txBody>
                  <a:tcPr/>
                </a:tc>
                <a:tc>
                  <a:txBody>
                    <a:bodyPr/>
                    <a:lstStyle/>
                    <a:p>
                      <a:pPr>
                        <a:defRPr b="1" sz="1400">
                          <a:latin typeface="Cairo"/>
                        </a:defRPr>
                      </a:pPr>
                      <a:r>
                        <a:t>Duration</a:t>
                      </a:r>
                    </a:p>
                  </a:txBody>
                  <a:tcPr/>
                </a:tc>
                <a:tc>
                  <a:txBody>
                    <a:bodyPr/>
                    <a:lstStyle/>
                    <a:p>
                      <a:pPr>
                        <a:defRPr b="1" sz="1400">
                          <a:latin typeface="Cairo"/>
                        </a:defRPr>
                      </a:pPr>
                      <a:r>
                        <a:t>Key Outputs</a:t>
                      </a:r>
                    </a:p>
                  </a:txBody>
                  <a:tcPr/>
                </a:tc>
              </a:tr>
              <a:tr h="1188720">
                <a:tc>
                  <a:txBody>
                    <a:bodyPr/>
                    <a:lstStyle/>
                    <a:p>
                      <a:pPr>
                        <a:defRPr sz="1200">
                          <a:latin typeface="Open Sans"/>
                        </a:defRPr>
                      </a:pPr>
                      <a:r>
                        <a:t>Phase</a:t>
                      </a:r>
                    </a:p>
                  </a:txBody>
                  <a:tcPr/>
                </a:tc>
                <a:tc>
                  <a:txBody>
                    <a:bodyPr/>
                    <a:lstStyle/>
                    <a:p>
                      <a:pPr>
                        <a:defRPr sz="1200">
                          <a:latin typeface="Open Sans"/>
                        </a:defRPr>
                      </a:pPr>
                      <a:r>
                        <a:t>Key Activities</a:t>
                      </a:r>
                    </a:p>
                  </a:txBody>
                  <a:tcPr/>
                </a:tc>
                <a:tc>
                  <a:txBody>
                    <a:bodyPr/>
                    <a:lstStyle/>
                    <a:p>
                      <a:pPr>
                        <a:defRPr sz="1200">
                          <a:latin typeface="Open Sans"/>
                        </a:defRPr>
                      </a:pPr>
                      <a:r>
                        <a:t>Duration</a:t>
                      </a:r>
                    </a:p>
                  </a:txBody>
                  <a:tcPr/>
                </a:tc>
                <a:tc>
                  <a:txBody>
                    <a:bodyPr/>
                    <a:lstStyle/>
                    <a:p>
                      <a:pPr>
                        <a:defRPr sz="1200">
                          <a:latin typeface="Open Sans"/>
                        </a:defRPr>
                      </a:pPr>
                      <a:r>
                        <a:t>Key Outputs</a:t>
                      </a:r>
                    </a:p>
                  </a:txBody>
                  <a:tcPr/>
                </a:tc>
              </a:tr>
              <a:tr h="1188720">
                <a:tc>
                  <a:txBody>
                    <a:bodyPr/>
                    <a:lstStyle/>
                    <a:p>
                      <a:pPr>
                        <a:defRPr sz="1200">
                          <a:latin typeface="Open Sans"/>
                        </a:defRPr>
                      </a:pPr>
                      <a:r>
                        <a:t>Execution</a:t>
                      </a:r>
                    </a:p>
                  </a:txBody>
                  <a:tcPr/>
                </a:tc>
                <a:tc>
                  <a:txBody>
                    <a:bodyPr/>
                    <a:lstStyle/>
                    <a:p>
                      <a:pPr>
                        <a:defRPr sz="1200">
                          <a:latin typeface="Open Sans"/>
                        </a:defRPr>
                      </a:pPr>
                      <a:r>
                        <a:t>Provider partnerships, delivery to 1,000 candidates, periodic reports</a:t>
                      </a:r>
                    </a:p>
                  </a:txBody>
                  <a:tcPr/>
                </a:tc>
                <a:tc>
                  <a:txBody>
                    <a:bodyPr/>
                    <a:lstStyle/>
                    <a:p>
                      <a:pPr>
                        <a:defRPr sz="1200">
                          <a:latin typeface="Open Sans"/>
                        </a:defRPr>
                      </a:pPr>
                      <a:r>
                        <a:t>17 months</a:t>
                      </a:r>
                    </a:p>
                  </a:txBody>
                  <a:tcPr/>
                </a:tc>
                <a:tc>
                  <a:txBody>
                    <a:bodyPr/>
                    <a:lstStyle/>
                    <a:p>
                      <a:pPr>
                        <a:defRPr sz="1200">
                          <a:latin typeface="Open Sans"/>
                        </a:defRPr>
                      </a:pPr>
                      <a:r>
                        <a:t>Training outputs and learning assets</a:t>
                      </a:r>
                    </a:p>
                  </a:txBody>
                  <a:tcPr/>
                </a:tc>
              </a:tr>
              <a:tr h="1188720">
                <a:tc>
                  <a:txBody>
                    <a:bodyPr/>
                    <a:lstStyle/>
                    <a:p>
                      <a:pPr>
                        <a:defRPr sz="1200">
                          <a:latin typeface="Open Sans"/>
                        </a:defRPr>
                      </a:pPr>
                      <a:r>
                        <a:t>Closure</a:t>
                      </a:r>
                    </a:p>
                  </a:txBody>
                  <a:tcPr/>
                </a:tc>
                <a:tc>
                  <a:txBody>
                    <a:bodyPr/>
                    <a:lstStyle/>
                    <a:p>
                      <a:pPr>
                        <a:defRPr sz="1200">
                          <a:latin typeface="Open Sans"/>
                        </a:defRPr>
                      </a:pPr>
                      <a:r>
                        <a:t>Final report, acceptance letters, archival submission</a:t>
                      </a:r>
                    </a:p>
                  </a:txBody>
                  <a:tcPr/>
                </a:tc>
                <a:tc>
                  <a:txBody>
                    <a:bodyPr/>
                    <a:lstStyle/>
                    <a:p>
                      <a:pPr>
                        <a:defRPr sz="1200">
                          <a:latin typeface="Open Sans"/>
                        </a:defRPr>
                      </a:pPr>
                      <a:r>
                        <a:t>3 months</a:t>
                      </a:r>
                    </a:p>
                  </a:txBody>
                  <a:tcPr/>
                </a:tc>
                <a:tc>
                  <a:txBody>
                    <a:bodyPr/>
                    <a:lstStyle/>
                    <a:p>
                      <a:pPr>
                        <a:defRPr sz="1200">
                          <a:latin typeface="Open Sans"/>
                        </a:defRPr>
                      </a:pPr>
                      <a:r>
                        <a:t>Handover and project closure</a:t>
                      </a:r>
                    </a:p>
                  </a:txBody>
                  <a:tcPr/>
                </a:tc>
              </a:tr>
            </a:tbl>
          </a:graphicData>
        </a:graphic>
      </p:graphicFrame>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8ec2dedf1678.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Project Team and Roles</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f7d641e3820e.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Team Structure &amp; Responsibilities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645920"/>
          <a:ext cx="10360152" cy="4754880"/>
        </p:xfrm>
        <a:graphic>
          <a:graphicData uri="http://schemas.openxmlformats.org/drawingml/2006/table">
            <a:tbl>
              <a:tblPr firstRow="1" bandRow="1">
                <a:tableStyleId>{5C22544A-7EE6-4342-B048-85BDC9FD1C3A}</a:tableStyleId>
              </a:tblPr>
              <a:tblGrid>
                <a:gridCol w="2590038"/>
                <a:gridCol w="2590038"/>
                <a:gridCol w="2590038"/>
                <a:gridCol w="2590038"/>
              </a:tblGrid>
              <a:tr h="950976">
                <a:tc>
                  <a:txBody>
                    <a:bodyPr/>
                    <a:lstStyle/>
                    <a:p>
                      <a:pPr>
                        <a:defRPr b="1" sz="1400">
                          <a:latin typeface="Cairo"/>
                        </a:defRPr>
                      </a:pPr>
                      <a:r>
                        <a:t>Position</a:t>
                      </a:r>
                    </a:p>
                  </a:txBody>
                  <a:tcPr/>
                </a:tc>
                <a:tc>
                  <a:txBody>
                    <a:bodyPr/>
                    <a:lstStyle/>
                    <a:p>
                      <a:pPr>
                        <a:defRPr b="1" sz="1400">
                          <a:latin typeface="Cairo"/>
                        </a:defRPr>
                      </a:pPr>
                      <a:r>
                        <a:t>Responsibilities</a:t>
                      </a:r>
                    </a:p>
                  </a:txBody>
                  <a:tcPr/>
                </a:tc>
                <a:tc>
                  <a:txBody>
                    <a:bodyPr/>
                    <a:lstStyle/>
                    <a:p>
                      <a:pPr>
                        <a:defRPr b="1" sz="1400">
                          <a:latin typeface="Cairo"/>
                        </a:defRPr>
                      </a:pPr>
                      <a:r>
                        <a:t>Experience</a:t>
                      </a:r>
                    </a:p>
                  </a:txBody>
                  <a:tcPr/>
                </a:tc>
                <a:tc>
                  <a:txBody>
                    <a:bodyPr/>
                    <a:lstStyle/>
                    <a:p>
                      <a:pPr>
                        <a:defRPr b="1" sz="1400">
                          <a:latin typeface="Cairo"/>
                        </a:defRPr>
                      </a:pPr>
                      <a:r>
                        <a:t>Time Allocation</a:t>
                      </a:r>
                    </a:p>
                  </a:txBody>
                  <a:tcPr/>
                </a:tc>
              </a:tr>
              <a:tr h="950976">
                <a:tc>
                  <a:txBody>
                    <a:bodyPr/>
                    <a:lstStyle/>
                    <a:p>
                      <a:pPr>
                        <a:defRPr sz="1200">
                          <a:latin typeface="Open Sans"/>
                        </a:defRPr>
                      </a:pPr>
                      <a:r>
                        <a:t>Position</a:t>
                      </a:r>
                    </a:p>
                  </a:txBody>
                  <a:tcPr/>
                </a:tc>
                <a:tc>
                  <a:txBody>
                    <a:bodyPr/>
                    <a:lstStyle/>
                    <a:p>
                      <a:pPr>
                        <a:defRPr sz="1200">
                          <a:latin typeface="Open Sans"/>
                        </a:defRPr>
                      </a:pPr>
                      <a:r>
                        <a:t>Responsibilities</a:t>
                      </a:r>
                    </a:p>
                  </a:txBody>
                  <a:tcPr/>
                </a:tc>
                <a:tc>
                  <a:txBody>
                    <a:bodyPr/>
                    <a:lstStyle/>
                    <a:p>
                      <a:pPr>
                        <a:defRPr sz="1200">
                          <a:latin typeface="Open Sans"/>
                        </a:defRPr>
                      </a:pPr>
                      <a:r>
                        <a:t>Experience</a:t>
                      </a:r>
                    </a:p>
                  </a:txBody>
                  <a:tcPr/>
                </a:tc>
                <a:tc>
                  <a:txBody>
                    <a:bodyPr/>
                    <a:lstStyle/>
                    <a:p>
                      <a:pPr>
                        <a:defRPr sz="1200">
                          <a:latin typeface="Open Sans"/>
                        </a:defRPr>
                      </a:pPr>
                      <a:r>
                        <a:t>Time Allocation</a:t>
                      </a:r>
                    </a:p>
                  </a:txBody>
                  <a:tcPr/>
                </a:tc>
              </a:tr>
              <a:tr h="950976">
                <a:tc>
                  <a:txBody>
                    <a:bodyPr/>
                    <a:lstStyle/>
                    <a:p>
                      <a:pPr>
                        <a:defRPr sz="1200">
                          <a:latin typeface="Open Sans"/>
                        </a:defRPr>
                      </a:pPr>
                      <a:r>
                        <a:t>Managing Director</a:t>
                      </a:r>
                    </a:p>
                  </a:txBody>
                  <a:tcPr/>
                </a:tc>
                <a:tc>
                  <a:txBody>
                    <a:bodyPr/>
                    <a:lstStyle/>
                    <a:p>
                      <a:pPr>
                        <a:defRPr sz="1200">
                          <a:latin typeface="Open Sans"/>
                        </a:defRPr>
                      </a:pPr>
                      <a:r>
                        <a:t>Executive sponsor, governance, stakeholder alignment, strategic decisions</a:t>
                      </a:r>
                    </a:p>
                  </a:txBody>
                  <a:tcPr/>
                </a:tc>
                <a:tc>
                  <a:txBody>
                    <a:bodyPr/>
                    <a:lstStyle/>
                    <a:p>
                      <a:pPr>
                        <a:defRPr sz="1200">
                          <a:latin typeface="Open Sans"/>
                        </a:defRPr>
                      </a:pPr>
                      <a:r>
                        <a:t>15+ years in consulting</a:t>
                      </a:r>
                    </a:p>
                  </a:txBody>
                  <a:tcPr/>
                </a:tc>
                <a:tc>
                  <a:txBody>
                    <a:bodyPr/>
                    <a:lstStyle/>
                    <a:p>
                      <a:pPr>
                        <a:defRPr sz="1200">
                          <a:latin typeface="Open Sans"/>
                        </a:defRPr>
                      </a:pPr>
                      <a:r>
                        <a:t>20%</a:t>
                      </a:r>
                    </a:p>
                  </a:txBody>
                  <a:tcPr/>
                </a:tc>
              </a:tr>
              <a:tr h="950976">
                <a:tc>
                  <a:txBody>
                    <a:bodyPr/>
                    <a:lstStyle/>
                    <a:p>
                      <a:pPr>
                        <a:defRPr sz="1200">
                          <a:latin typeface="Open Sans"/>
                        </a:defRPr>
                      </a:pPr>
                      <a:r>
                        <a:t>EPMO Manager</a:t>
                      </a:r>
                    </a:p>
                  </a:txBody>
                  <a:tcPr/>
                </a:tc>
                <a:tc>
                  <a:txBody>
                    <a:bodyPr/>
                    <a:lstStyle/>
                    <a:p>
                      <a:pPr>
                        <a:defRPr sz="1200">
                          <a:latin typeface="Open Sans"/>
                        </a:defRPr>
                      </a:pPr>
                      <a:r>
                        <a:t>PMO lead for schedule, scope, risk, reporting, and change control</a:t>
                      </a:r>
                    </a:p>
                  </a:txBody>
                  <a:tcPr/>
                </a:tc>
                <a:tc>
                  <a:txBody>
                    <a:bodyPr/>
                    <a:lstStyle/>
                    <a:p>
                      <a:pPr>
                        <a:defRPr sz="1200">
                          <a:latin typeface="Open Sans"/>
                        </a:defRPr>
                      </a:pPr>
                      <a:r>
                        <a:t>12+ years in PMO</a:t>
                      </a:r>
                    </a:p>
                  </a:txBody>
                  <a:tcPr/>
                </a:tc>
                <a:tc>
                  <a:txBody>
                    <a:bodyPr/>
                    <a:lstStyle/>
                    <a:p>
                      <a:pPr>
                        <a:defRPr sz="1200">
                          <a:latin typeface="Open Sans"/>
                        </a:defRPr>
                      </a:pPr>
                      <a:r>
                        <a:t>40%</a:t>
                      </a:r>
                    </a:p>
                  </a:txBody>
                  <a:tcPr/>
                </a:tc>
              </a:tr>
              <a:tr h="950976">
                <a:tc>
                  <a:txBody>
                    <a:bodyPr/>
                    <a:lstStyle/>
                    <a:p>
                      <a:pPr>
                        <a:defRPr sz="1200">
                          <a:latin typeface="Open Sans"/>
                        </a:defRPr>
                      </a:pPr>
                      <a:r>
                        <a:t>Engagement Manager</a:t>
                      </a:r>
                    </a:p>
                  </a:txBody>
                  <a:tcPr/>
                </a:tc>
                <a:tc>
                  <a:txBody>
                    <a:bodyPr/>
                    <a:lstStyle/>
                    <a:p>
                      <a:pPr>
                        <a:defRPr sz="1200">
                          <a:latin typeface="Open Sans"/>
                        </a:defRPr>
                      </a:pPr>
                      <a:r>
                        <a:t>Workstream leadership across job analysis, SAQF, training, incentives</a:t>
                      </a:r>
                    </a:p>
                  </a:txBody>
                  <a:tcPr/>
                </a:tc>
                <a:tc>
                  <a:txBody>
                    <a:bodyPr/>
                    <a:lstStyle/>
                    <a:p>
                      <a:pPr>
                        <a:defRPr sz="1200">
                          <a:latin typeface="Open Sans"/>
                        </a:defRPr>
                      </a:pPr>
                      <a:r>
                        <a:t>10+ years domain expertise</a:t>
                      </a:r>
                    </a:p>
                  </a:txBody>
                  <a:tcPr/>
                </a:tc>
                <a:tc>
                  <a:txBody>
                    <a:bodyPr/>
                    <a:lstStyle/>
                    <a:p>
                      <a:pPr>
                        <a:defRPr sz="1200">
                          <a:latin typeface="Open Sans"/>
                        </a:defRPr>
                      </a:pPr>
                      <a:r>
                        <a:t>50%</a:t>
                      </a:r>
                    </a:p>
                  </a:txBody>
                  <a:tcPr/>
                </a:tc>
              </a:tr>
            </a:tbl>
          </a:graphicData>
        </a:graphic>
      </p:graphicFrame>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117b517bb0eb.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Team Structure &amp; Responsibilities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645920"/>
          <a:ext cx="10360152" cy="4754880"/>
        </p:xfrm>
        <a:graphic>
          <a:graphicData uri="http://schemas.openxmlformats.org/drawingml/2006/table">
            <a:tbl>
              <a:tblPr firstRow="1" bandRow="1">
                <a:tableStyleId>{5C22544A-7EE6-4342-B048-85BDC9FD1C3A}</a:tableStyleId>
              </a:tblPr>
              <a:tblGrid>
                <a:gridCol w="2590038"/>
                <a:gridCol w="2590038"/>
                <a:gridCol w="2590038"/>
                <a:gridCol w="2590038"/>
              </a:tblGrid>
              <a:tr h="1188720">
                <a:tc>
                  <a:txBody>
                    <a:bodyPr/>
                    <a:lstStyle/>
                    <a:p>
                      <a:pPr>
                        <a:defRPr b="1" sz="1400">
                          <a:latin typeface="Cairo"/>
                        </a:defRPr>
                      </a:pPr>
                      <a:r>
                        <a:t>Position</a:t>
                      </a:r>
                    </a:p>
                  </a:txBody>
                  <a:tcPr/>
                </a:tc>
                <a:tc>
                  <a:txBody>
                    <a:bodyPr/>
                    <a:lstStyle/>
                    <a:p>
                      <a:pPr>
                        <a:defRPr b="1" sz="1400">
                          <a:latin typeface="Cairo"/>
                        </a:defRPr>
                      </a:pPr>
                      <a:r>
                        <a:t>Responsibilities</a:t>
                      </a:r>
                    </a:p>
                  </a:txBody>
                  <a:tcPr/>
                </a:tc>
                <a:tc>
                  <a:txBody>
                    <a:bodyPr/>
                    <a:lstStyle/>
                    <a:p>
                      <a:pPr>
                        <a:defRPr b="1" sz="1400">
                          <a:latin typeface="Cairo"/>
                        </a:defRPr>
                      </a:pPr>
                      <a:r>
                        <a:t>Experience</a:t>
                      </a:r>
                    </a:p>
                  </a:txBody>
                  <a:tcPr/>
                </a:tc>
                <a:tc>
                  <a:txBody>
                    <a:bodyPr/>
                    <a:lstStyle/>
                    <a:p>
                      <a:pPr>
                        <a:defRPr b="1" sz="1400">
                          <a:latin typeface="Cairo"/>
                        </a:defRPr>
                      </a:pPr>
                      <a:r>
                        <a:t>Time Allocation</a:t>
                      </a:r>
                    </a:p>
                  </a:txBody>
                  <a:tcPr/>
                </a:tc>
              </a:tr>
              <a:tr h="1188720">
                <a:tc>
                  <a:txBody>
                    <a:bodyPr/>
                    <a:lstStyle/>
                    <a:p>
                      <a:pPr>
                        <a:defRPr sz="1200">
                          <a:latin typeface="Open Sans"/>
                        </a:defRPr>
                      </a:pPr>
                      <a:r>
                        <a:t>Position</a:t>
                      </a:r>
                    </a:p>
                  </a:txBody>
                  <a:tcPr/>
                </a:tc>
                <a:tc>
                  <a:txBody>
                    <a:bodyPr/>
                    <a:lstStyle/>
                    <a:p>
                      <a:pPr>
                        <a:defRPr sz="1200">
                          <a:latin typeface="Open Sans"/>
                        </a:defRPr>
                      </a:pPr>
                      <a:r>
                        <a:t>Responsibilities</a:t>
                      </a:r>
                    </a:p>
                  </a:txBody>
                  <a:tcPr/>
                </a:tc>
                <a:tc>
                  <a:txBody>
                    <a:bodyPr/>
                    <a:lstStyle/>
                    <a:p>
                      <a:pPr>
                        <a:defRPr sz="1200">
                          <a:latin typeface="Open Sans"/>
                        </a:defRPr>
                      </a:pPr>
                      <a:r>
                        <a:t>Experience</a:t>
                      </a:r>
                    </a:p>
                  </a:txBody>
                  <a:tcPr/>
                </a:tc>
                <a:tc>
                  <a:txBody>
                    <a:bodyPr/>
                    <a:lstStyle/>
                    <a:p>
                      <a:pPr>
                        <a:defRPr sz="1200">
                          <a:latin typeface="Open Sans"/>
                        </a:defRPr>
                      </a:pPr>
                      <a:r>
                        <a:t>Time Allocation</a:t>
                      </a:r>
                    </a:p>
                  </a:txBody>
                  <a:tcPr/>
                </a:tc>
              </a:tr>
              <a:tr h="1188720">
                <a:tc>
                  <a:txBody>
                    <a:bodyPr/>
                    <a:lstStyle/>
                    <a:p>
                      <a:pPr>
                        <a:defRPr sz="1200">
                          <a:latin typeface="Open Sans"/>
                        </a:defRPr>
                      </a:pPr>
                      <a:r>
                        <a:t>Technical &amp; Educational Expert</a:t>
                      </a:r>
                    </a:p>
                  </a:txBody>
                  <a:tcPr/>
                </a:tc>
                <a:tc>
                  <a:txBody>
                    <a:bodyPr/>
                    <a:lstStyle/>
                    <a:p>
                      <a:pPr>
                        <a:defRPr sz="1200">
                          <a:latin typeface="Open Sans"/>
                        </a:defRPr>
                      </a:pPr>
                      <a:r>
                        <a:t>Qualification design, learning science, assessment strategy and QA</a:t>
                      </a:r>
                    </a:p>
                  </a:txBody>
                  <a:tcPr/>
                </a:tc>
                <a:tc>
                  <a:txBody>
                    <a:bodyPr/>
                    <a:lstStyle/>
                    <a:p>
                      <a:pPr>
                        <a:defRPr sz="1200">
                          <a:latin typeface="Open Sans"/>
                        </a:defRPr>
                      </a:pPr>
                      <a:r>
                        <a:t>10+ years in L&amp;D</a:t>
                      </a:r>
                    </a:p>
                  </a:txBody>
                  <a:tcPr/>
                </a:tc>
                <a:tc>
                  <a:txBody>
                    <a:bodyPr/>
                    <a:lstStyle/>
                    <a:p>
                      <a:pPr>
                        <a:defRPr sz="1200">
                          <a:latin typeface="Open Sans"/>
                        </a:defRPr>
                      </a:pPr>
                      <a:r>
                        <a:t>60%</a:t>
                      </a:r>
                    </a:p>
                  </a:txBody>
                  <a:tcPr/>
                </a:tc>
              </a:tr>
              <a:tr h="1188720">
                <a:tc>
                  <a:txBody>
                    <a:bodyPr/>
                    <a:lstStyle/>
                    <a:p>
                      <a:pPr>
                        <a:defRPr sz="1200">
                          <a:latin typeface="Open Sans"/>
                        </a:defRPr>
                      </a:pPr>
                      <a:r>
                        <a:t>Training Coordinator</a:t>
                      </a:r>
                    </a:p>
                  </a:txBody>
                  <a:tcPr/>
                </a:tc>
                <a:tc>
                  <a:txBody>
                    <a:bodyPr/>
                    <a:lstStyle/>
                    <a:p>
                      <a:pPr>
                        <a:defRPr sz="1200">
                          <a:latin typeface="Open Sans"/>
                        </a:defRPr>
                      </a:pPr>
                      <a:r>
                        <a:t>Provider management, cohort logistics, delivery tracking and reporting</a:t>
                      </a:r>
                    </a:p>
                  </a:txBody>
                  <a:tcPr/>
                </a:tc>
                <a:tc>
                  <a:txBody>
                    <a:bodyPr/>
                    <a:lstStyle/>
                    <a:p>
                      <a:pPr>
                        <a:defRPr sz="1200">
                          <a:latin typeface="Open Sans"/>
                        </a:defRPr>
                      </a:pPr>
                      <a:r>
                        <a:t>7+ years in operations</a:t>
                      </a:r>
                    </a:p>
                  </a:txBody>
                  <a:tcPr/>
                </a:tc>
                <a:tc>
                  <a:txBody>
                    <a:bodyPr/>
                    <a:lstStyle/>
                    <a:p>
                      <a:pPr>
                        <a:defRPr sz="1200">
                          <a:latin typeface="Open Sans"/>
                        </a:defRPr>
                      </a:pPr>
                      <a:r>
                        <a:t>80%</a:t>
                      </a:r>
                    </a:p>
                  </a:txBody>
                  <a:tcPr/>
                </a:tc>
              </a:tr>
            </a:tbl>
          </a:graphicData>
        </a:graphic>
      </p:graphicFrame>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fb2cb00ca616.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Quality Assurance and Risk Management</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3ebc6dddf071.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QA, risk, and change control</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QA plan with acceptance criteria per deliverable, peer reviews, sign‑offs, version control, and semi‑annual QA reports</a:t>
            </a:r>
          </a:p>
          <a:p>
            <a:pPr algn="l">
              <a:defRPr sz="1800" b="0">
                <a:solidFill>
                  <a:srgbClr val="0D2026"/>
                </a:solidFill>
                <a:latin typeface="Open Sans"/>
              </a:defRPr>
            </a:pPr>
            <a:r>
              <a:t>• Risk register with mitigations and contingencies, weekly reviews, and escalation thresholds to governance bodies</a:t>
            </a:r>
          </a:p>
          <a:p>
            <a:pPr algn="l">
              <a:defRPr sz="1800" b="0">
                <a:solidFill>
                  <a:srgbClr val="0D2026"/>
                </a:solidFill>
                <a:latin typeface="Open Sans"/>
              </a:defRPr>
            </a:pPr>
            <a:r>
              <a:t>• Formal change control with impact analysis on scope, schedule, and cost, and approval routing through governance</a:t>
            </a:r>
          </a:p>
          <a:p>
            <a:pPr algn="l">
              <a:defRPr sz="1800" b="0">
                <a:solidFill>
                  <a:srgbClr val="0D2026"/>
                </a:solidFill>
                <a:latin typeface="Open Sans"/>
              </a:defRPr>
            </a:pPr>
            <a:r>
              <a:t>• Compliance audits for classification, SAQF alignment, localization, safety, and data handling requirements</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f5dc1abd0a58.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KPIs and Service Levels</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5cb2f5c64610.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Key Performance Indicators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645920"/>
          <a:ext cx="10360152" cy="4754880"/>
        </p:xfrm>
        <a:graphic>
          <a:graphicData uri="http://schemas.openxmlformats.org/drawingml/2006/table">
            <a:tbl>
              <a:tblPr firstRow="1" bandRow="1">
                <a:tableStyleId>{5C22544A-7EE6-4342-B048-85BDC9FD1C3A}</a:tableStyleId>
              </a:tblPr>
              <a:tblGrid>
                <a:gridCol w="2590038"/>
                <a:gridCol w="2590038"/>
                <a:gridCol w="2590038"/>
                <a:gridCol w="2590038"/>
              </a:tblGrid>
              <a:tr h="950976">
                <a:tc>
                  <a:txBody>
                    <a:bodyPr/>
                    <a:lstStyle/>
                    <a:p>
                      <a:pPr>
                        <a:defRPr b="1" sz="1400">
                          <a:latin typeface="Cairo"/>
                        </a:defRPr>
                      </a:pPr>
                      <a:r>
                        <a:t>KPI</a:t>
                      </a:r>
                    </a:p>
                  </a:txBody>
                  <a:tcPr/>
                </a:tc>
                <a:tc>
                  <a:txBody>
                    <a:bodyPr/>
                    <a:lstStyle/>
                    <a:p>
                      <a:pPr>
                        <a:defRPr b="1" sz="1400">
                          <a:latin typeface="Cairo"/>
                        </a:defRPr>
                      </a:pPr>
                      <a:r>
                        <a:t>Target</a:t>
                      </a:r>
                    </a:p>
                  </a:txBody>
                  <a:tcPr/>
                </a:tc>
                <a:tc>
                  <a:txBody>
                    <a:bodyPr/>
                    <a:lstStyle/>
                    <a:p>
                      <a:pPr>
                        <a:defRPr b="1" sz="1400">
                          <a:latin typeface="Cairo"/>
                        </a:defRPr>
                      </a:pPr>
                      <a:r>
                        <a:t>Measurement Method</a:t>
                      </a:r>
                    </a:p>
                  </a:txBody>
                  <a:tcPr/>
                </a:tc>
                <a:tc>
                  <a:txBody>
                    <a:bodyPr/>
                    <a:lstStyle/>
                    <a:p>
                      <a:pPr>
                        <a:defRPr b="1" sz="1400">
                          <a:latin typeface="Cairo"/>
                        </a:defRPr>
                      </a:pPr>
                      <a:r>
                        <a:t>Frequency</a:t>
                      </a:r>
                    </a:p>
                  </a:txBody>
                  <a:tcPr/>
                </a:tc>
              </a:tr>
              <a:tr h="950976">
                <a:tc>
                  <a:txBody>
                    <a:bodyPr/>
                    <a:lstStyle/>
                    <a:p>
                      <a:pPr>
                        <a:defRPr sz="1200">
                          <a:latin typeface="Open Sans"/>
                        </a:defRPr>
                      </a:pPr>
                      <a:r>
                        <a:t>KPI</a:t>
                      </a:r>
                    </a:p>
                  </a:txBody>
                  <a:tcPr/>
                </a:tc>
                <a:tc>
                  <a:txBody>
                    <a:bodyPr/>
                    <a:lstStyle/>
                    <a:p>
                      <a:pPr>
                        <a:defRPr sz="1200">
                          <a:latin typeface="Open Sans"/>
                        </a:defRPr>
                      </a:pPr>
                      <a:r>
                        <a:t>Target</a:t>
                      </a:r>
                    </a:p>
                  </a:txBody>
                  <a:tcPr/>
                </a:tc>
                <a:tc>
                  <a:txBody>
                    <a:bodyPr/>
                    <a:lstStyle/>
                    <a:p>
                      <a:pPr>
                        <a:defRPr sz="1200">
                          <a:latin typeface="Open Sans"/>
                        </a:defRPr>
                      </a:pPr>
                      <a:r>
                        <a:t>Measurement Method</a:t>
                      </a:r>
                    </a:p>
                  </a:txBody>
                  <a:tcPr/>
                </a:tc>
                <a:tc>
                  <a:txBody>
                    <a:bodyPr/>
                    <a:lstStyle/>
                    <a:p>
                      <a:pPr>
                        <a:defRPr sz="1200">
                          <a:latin typeface="Open Sans"/>
                        </a:defRPr>
                      </a:pPr>
                      <a:r>
                        <a:t>Frequency</a:t>
                      </a:r>
                    </a:p>
                  </a:txBody>
                  <a:tcPr/>
                </a:tc>
              </a:tr>
              <a:tr h="950976">
                <a:tc>
                  <a:txBody>
                    <a:bodyPr/>
                    <a:lstStyle/>
                    <a:p>
                      <a:pPr>
                        <a:defRPr sz="1200">
                          <a:latin typeface="Open Sans"/>
                        </a:defRPr>
                      </a:pPr>
                      <a:r>
                        <a:t>Stakeholder Satisfaction</a:t>
                      </a:r>
                    </a:p>
                  </a:txBody>
                  <a:tcPr/>
                </a:tc>
                <a:tc>
                  <a:txBody>
                    <a:bodyPr/>
                    <a:lstStyle/>
                    <a:p>
                      <a:pPr>
                        <a:defRPr sz="1200">
                          <a:latin typeface="Open Sans"/>
                        </a:defRPr>
                      </a:pPr>
                      <a:r>
                        <a:t>≥90%</a:t>
                      </a:r>
                    </a:p>
                  </a:txBody>
                  <a:tcPr/>
                </a:tc>
                <a:tc>
                  <a:txBody>
                    <a:bodyPr/>
                    <a:lstStyle/>
                    <a:p>
                      <a:pPr>
                        <a:defRPr sz="1200">
                          <a:latin typeface="Open Sans"/>
                        </a:defRPr>
                      </a:pPr>
                      <a:r>
                        <a:t>Survey and feedback forms</a:t>
                      </a:r>
                    </a:p>
                  </a:txBody>
                  <a:tcPr/>
                </a:tc>
                <a:tc>
                  <a:txBody>
                    <a:bodyPr/>
                    <a:lstStyle/>
                    <a:p>
                      <a:pPr>
                        <a:defRPr sz="1200">
                          <a:latin typeface="Open Sans"/>
                        </a:defRPr>
                      </a:pPr>
                      <a:r>
                        <a:t>Monthly</a:t>
                      </a:r>
                    </a:p>
                  </a:txBody>
                  <a:tcPr/>
                </a:tc>
              </a:tr>
              <a:tr h="950976">
                <a:tc>
                  <a:txBody>
                    <a:bodyPr/>
                    <a:lstStyle/>
                    <a:p>
                      <a:pPr>
                        <a:defRPr sz="1200">
                          <a:latin typeface="Open Sans"/>
                        </a:defRPr>
                      </a:pPr>
                      <a:r>
                        <a:t>Deliverable Quality Score</a:t>
                      </a:r>
                    </a:p>
                  </a:txBody>
                  <a:tcPr/>
                </a:tc>
                <a:tc>
                  <a:txBody>
                    <a:bodyPr/>
                    <a:lstStyle/>
                    <a:p>
                      <a:pPr>
                        <a:defRPr sz="1200">
                          <a:latin typeface="Open Sans"/>
                        </a:defRPr>
                      </a:pPr>
                      <a:r>
                        <a:t>≥95%</a:t>
                      </a:r>
                    </a:p>
                  </a:txBody>
                  <a:tcPr/>
                </a:tc>
                <a:tc>
                  <a:txBody>
                    <a:bodyPr/>
                    <a:lstStyle/>
                    <a:p>
                      <a:pPr>
                        <a:defRPr sz="1200">
                          <a:latin typeface="Open Sans"/>
                        </a:defRPr>
                      </a:pPr>
                      <a:r>
                        <a:t>Quality review checklist</a:t>
                      </a:r>
                    </a:p>
                  </a:txBody>
                  <a:tcPr/>
                </a:tc>
                <a:tc>
                  <a:txBody>
                    <a:bodyPr/>
                    <a:lstStyle/>
                    <a:p>
                      <a:pPr>
                        <a:defRPr sz="1200">
                          <a:latin typeface="Open Sans"/>
                        </a:defRPr>
                      </a:pPr>
                      <a:r>
                        <a:t>Per deliverable</a:t>
                      </a:r>
                    </a:p>
                  </a:txBody>
                  <a:tcPr/>
                </a:tc>
              </a:tr>
              <a:tr h="950976">
                <a:tc>
                  <a:txBody>
                    <a:bodyPr/>
                    <a:lstStyle/>
                    <a:p>
                      <a:pPr>
                        <a:defRPr sz="1200">
                          <a:latin typeface="Open Sans"/>
                        </a:defRPr>
                      </a:pPr>
                      <a:r>
                        <a:t>Timeline Adherence</a:t>
                      </a:r>
                    </a:p>
                  </a:txBody>
                  <a:tcPr/>
                </a:tc>
                <a:tc>
                  <a:txBody>
                    <a:bodyPr/>
                    <a:lstStyle/>
                    <a:p>
                      <a:pPr>
                        <a:defRPr sz="1200">
                          <a:latin typeface="Open Sans"/>
                        </a:defRPr>
                      </a:pPr>
                      <a:r>
                        <a:t>100%</a:t>
                      </a:r>
                    </a:p>
                  </a:txBody>
                  <a:tcPr/>
                </a:tc>
                <a:tc>
                  <a:txBody>
                    <a:bodyPr/>
                    <a:lstStyle/>
                    <a:p>
                      <a:pPr>
                        <a:defRPr sz="1200">
                          <a:latin typeface="Open Sans"/>
                        </a:defRPr>
                      </a:pPr>
                      <a:r>
                        <a:t>Milestone tracking and reporting</a:t>
                      </a:r>
                    </a:p>
                  </a:txBody>
                  <a:tcPr/>
                </a:tc>
                <a:tc>
                  <a:txBody>
                    <a:bodyPr/>
                    <a:lstStyle/>
                    <a:p>
                      <a:pPr>
                        <a:defRPr sz="1200">
                          <a:latin typeface="Open Sans"/>
                        </a:defRPr>
                      </a:pPr>
                      <a:r>
                        <a:t>Weekly</a:t>
                      </a:r>
                    </a:p>
                  </a:txBody>
                  <a:tcPr/>
                </a:tc>
              </a:tr>
            </a:tbl>
          </a:graphicData>
        </a:graphic>
      </p:graphicFrame>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97cc958fb024.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Key Performance Indicators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645920"/>
          <a:ext cx="10360152" cy="4754880"/>
        </p:xfrm>
        <a:graphic>
          <a:graphicData uri="http://schemas.openxmlformats.org/drawingml/2006/table">
            <a:tbl>
              <a:tblPr firstRow="1" bandRow="1">
                <a:tableStyleId>{5C22544A-7EE6-4342-B048-85BDC9FD1C3A}</a:tableStyleId>
              </a:tblPr>
              <a:tblGrid>
                <a:gridCol w="2590038"/>
                <a:gridCol w="2590038"/>
                <a:gridCol w="2590038"/>
                <a:gridCol w="2590038"/>
              </a:tblGrid>
              <a:tr h="1188720">
                <a:tc>
                  <a:txBody>
                    <a:bodyPr/>
                    <a:lstStyle/>
                    <a:p>
                      <a:pPr>
                        <a:defRPr b="1" sz="1400">
                          <a:latin typeface="Cairo"/>
                        </a:defRPr>
                      </a:pPr>
                      <a:r>
                        <a:t>KPI</a:t>
                      </a:r>
                    </a:p>
                  </a:txBody>
                  <a:tcPr/>
                </a:tc>
                <a:tc>
                  <a:txBody>
                    <a:bodyPr/>
                    <a:lstStyle/>
                    <a:p>
                      <a:pPr>
                        <a:defRPr b="1" sz="1400">
                          <a:latin typeface="Cairo"/>
                        </a:defRPr>
                      </a:pPr>
                      <a:r>
                        <a:t>Target</a:t>
                      </a:r>
                    </a:p>
                  </a:txBody>
                  <a:tcPr/>
                </a:tc>
                <a:tc>
                  <a:txBody>
                    <a:bodyPr/>
                    <a:lstStyle/>
                    <a:p>
                      <a:pPr>
                        <a:defRPr b="1" sz="1400">
                          <a:latin typeface="Cairo"/>
                        </a:defRPr>
                      </a:pPr>
                      <a:r>
                        <a:t>Measurement Method</a:t>
                      </a:r>
                    </a:p>
                  </a:txBody>
                  <a:tcPr/>
                </a:tc>
                <a:tc>
                  <a:txBody>
                    <a:bodyPr/>
                    <a:lstStyle/>
                    <a:p>
                      <a:pPr>
                        <a:defRPr b="1" sz="1400">
                          <a:latin typeface="Cairo"/>
                        </a:defRPr>
                      </a:pPr>
                      <a:r>
                        <a:t>Frequency</a:t>
                      </a:r>
                    </a:p>
                  </a:txBody>
                  <a:tcPr/>
                </a:tc>
              </a:tr>
              <a:tr h="1188720">
                <a:tc>
                  <a:txBody>
                    <a:bodyPr/>
                    <a:lstStyle/>
                    <a:p>
                      <a:pPr>
                        <a:defRPr sz="1200">
                          <a:latin typeface="Open Sans"/>
                        </a:defRPr>
                      </a:pPr>
                      <a:r>
                        <a:t>KPI</a:t>
                      </a:r>
                    </a:p>
                  </a:txBody>
                  <a:tcPr/>
                </a:tc>
                <a:tc>
                  <a:txBody>
                    <a:bodyPr/>
                    <a:lstStyle/>
                    <a:p>
                      <a:pPr>
                        <a:defRPr sz="1200">
                          <a:latin typeface="Open Sans"/>
                        </a:defRPr>
                      </a:pPr>
                      <a:r>
                        <a:t>Target</a:t>
                      </a:r>
                    </a:p>
                  </a:txBody>
                  <a:tcPr/>
                </a:tc>
                <a:tc>
                  <a:txBody>
                    <a:bodyPr/>
                    <a:lstStyle/>
                    <a:p>
                      <a:pPr>
                        <a:defRPr sz="1200">
                          <a:latin typeface="Open Sans"/>
                        </a:defRPr>
                      </a:pPr>
                      <a:r>
                        <a:t>Measurement Method</a:t>
                      </a:r>
                    </a:p>
                  </a:txBody>
                  <a:tcPr/>
                </a:tc>
                <a:tc>
                  <a:txBody>
                    <a:bodyPr/>
                    <a:lstStyle/>
                    <a:p>
                      <a:pPr>
                        <a:defRPr sz="1200">
                          <a:latin typeface="Open Sans"/>
                        </a:defRPr>
                      </a:pPr>
                      <a:r>
                        <a:t>Frequency</a:t>
                      </a:r>
                    </a:p>
                  </a:txBody>
                  <a:tcPr/>
                </a:tc>
              </a:tr>
              <a:tr h="1188720">
                <a:tc>
                  <a:txBody>
                    <a:bodyPr/>
                    <a:lstStyle/>
                    <a:p>
                      <a:pPr>
                        <a:defRPr sz="1200">
                          <a:latin typeface="Open Sans"/>
                        </a:defRPr>
                      </a:pPr>
                      <a:r>
                        <a:t>Data Accuracy Rate</a:t>
                      </a:r>
                    </a:p>
                  </a:txBody>
                  <a:tcPr/>
                </a:tc>
                <a:tc>
                  <a:txBody>
                    <a:bodyPr/>
                    <a:lstStyle/>
                    <a:p>
                      <a:pPr>
                        <a:defRPr sz="1200">
                          <a:latin typeface="Open Sans"/>
                        </a:defRPr>
                      </a:pPr>
                      <a:r>
                        <a:t>≥98%</a:t>
                      </a:r>
                    </a:p>
                  </a:txBody>
                  <a:tcPr/>
                </a:tc>
                <a:tc>
                  <a:txBody>
                    <a:bodyPr/>
                    <a:lstStyle/>
                    <a:p>
                      <a:pPr>
                        <a:defRPr sz="1200">
                          <a:latin typeface="Open Sans"/>
                        </a:defRPr>
                      </a:pPr>
                      <a:r>
                        <a:t>Validation and verification checks</a:t>
                      </a:r>
                    </a:p>
                  </a:txBody>
                  <a:tcPr/>
                </a:tc>
                <a:tc>
                  <a:txBody>
                    <a:bodyPr/>
                    <a:lstStyle/>
                    <a:p>
                      <a:pPr>
                        <a:defRPr sz="1200">
                          <a:latin typeface="Open Sans"/>
                        </a:defRPr>
                      </a:pPr>
                      <a:r>
                        <a:t>Continuous</a:t>
                      </a:r>
                    </a:p>
                  </a:txBody>
                  <a:tcPr/>
                </a:tc>
              </a:tr>
              <a:tr h="1188720">
                <a:tc>
                  <a:txBody>
                    <a:bodyPr/>
                    <a:lstStyle/>
                    <a:p>
                      <a:pPr>
                        <a:defRPr sz="1200">
                          <a:latin typeface="Open Sans"/>
                        </a:defRPr>
                      </a:pPr>
                      <a:r>
                        <a:t>Engagement Level</a:t>
                      </a:r>
                    </a:p>
                  </a:txBody>
                  <a:tcPr/>
                </a:tc>
                <a:tc>
                  <a:txBody>
                    <a:bodyPr/>
                    <a:lstStyle/>
                    <a:p>
                      <a:pPr>
                        <a:defRPr sz="1200">
                          <a:latin typeface="Open Sans"/>
                        </a:defRPr>
                      </a:pPr>
                      <a:r>
                        <a:t>≥85%</a:t>
                      </a:r>
                    </a:p>
                  </a:txBody>
                  <a:tcPr/>
                </a:tc>
                <a:tc>
                  <a:txBody>
                    <a:bodyPr/>
                    <a:lstStyle/>
                    <a:p>
                      <a:pPr>
                        <a:defRPr sz="1200">
                          <a:latin typeface="Open Sans"/>
                        </a:defRPr>
                      </a:pPr>
                      <a:r>
                        <a:t>Workshop participation rate</a:t>
                      </a:r>
                    </a:p>
                  </a:txBody>
                  <a:tcPr/>
                </a:tc>
                <a:tc>
                  <a:txBody>
                    <a:bodyPr/>
                    <a:lstStyle/>
                    <a:p>
                      <a:pPr>
                        <a:defRPr sz="1200">
                          <a:latin typeface="Open Sans"/>
                        </a:defRPr>
                      </a:pPr>
                      <a:r>
                        <a:t>Per session</a:t>
                      </a:r>
                    </a:p>
                  </a:txBody>
                  <a:tcPr/>
                </a:tc>
              </a:tr>
            </a:tbl>
          </a:graphicData>
        </a:graphic>
      </p:graphicFrame>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1e27c305.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b44be6f37921.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Success metrics targets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iamond 5"/>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e864e0d97553.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Data Privacy, Security, and IP</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e5499803143f.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Privacy, security, and IP commitments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Confidentiality with no disclosure of competition or client data without written approval and need‑to‑know access</a:t>
            </a:r>
          </a:p>
          <a:p>
            <a:pPr algn="l">
              <a:defRPr sz="1800" b="0">
                <a:solidFill>
                  <a:srgbClr val="0D2026"/>
                </a:solidFill>
                <a:latin typeface="Open Sans"/>
              </a:defRPr>
            </a:pPr>
            <a:r>
              <a:t>• Use of client‑approved systems with secure storage, controlled transmission, and identity‑compliant archiving</a:t>
            </a:r>
          </a:p>
          <a:p>
            <a:pPr algn="l">
              <a:defRPr sz="1800" b="0">
                <a:solidFill>
                  <a:srgbClr val="0D2026"/>
                </a:solidFill>
                <a:latin typeface="Open Sans"/>
              </a:defRPr>
            </a:pPr>
            <a:r>
              <a:t>• Intellectual property assigned to the government entity for public interest use as per RFP provisions</a:t>
            </a:r>
          </a:p>
          <a:p>
            <a:pPr algn="l">
              <a:defRPr sz="1800" b="0">
                <a:solidFill>
                  <a:srgbClr val="0D2026"/>
                </a:solidFill>
                <a:latin typeface="Open Sans"/>
              </a:defRPr>
            </a:pPr>
            <a:r>
              <a:t>• E‑packages uploaded with open files and Arabic PDFs following required identity and formatting standards</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8ec2dedf1678.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Compliance with RFP Requirements</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db9f78a7fcbb.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RFP compliance highlights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Language and content approvals in Arabic with ≥10 working days pre‑workshop approval and identity‑compliant materials</a:t>
            </a:r>
          </a:p>
          <a:p>
            <a:pPr algn="l">
              <a:defRPr sz="1800" b="0">
                <a:solidFill>
                  <a:srgbClr val="0D2026"/>
                </a:solidFill>
                <a:latin typeface="Open Sans"/>
              </a:defRPr>
            </a:pPr>
            <a:r>
              <a:t>• Localization adherence with junior roles staffed by Saudi nationals and dedicated female staff where required</a:t>
            </a:r>
          </a:p>
          <a:p>
            <a:pPr algn="l">
              <a:defRPr sz="1800" b="0">
                <a:solidFill>
                  <a:srgbClr val="0D2026"/>
                </a:solidFill>
                <a:latin typeface="Open Sans"/>
              </a:defRPr>
            </a:pPr>
            <a:r>
              <a:t>• Submission via Etimad with separate technical and financial files and bank guarantees to the Vision Realization Office</a:t>
            </a:r>
          </a:p>
          <a:p>
            <a:pPr algn="l">
              <a:defRPr sz="1800" b="0">
                <a:solidFill>
                  <a:srgbClr val="0D2026"/>
                </a:solidFill>
                <a:latin typeface="Open Sans"/>
              </a:defRPr>
            </a:pPr>
            <a:r>
              <a:t>• 30‑month duration with weekly monitoring, quarterly reporting, semi‑annual QA, and prescribed file formats</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e864e0d97553.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Deliverables Summary</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f7d641e3820e.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Project Deliverables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645920"/>
          <a:ext cx="10360152" cy="4754880"/>
        </p:xfrm>
        <a:graphic>
          <a:graphicData uri="http://schemas.openxmlformats.org/drawingml/2006/table">
            <a:tbl>
              <a:tblPr firstRow="1" bandRow="1">
                <a:tableStyleId>{5C22544A-7EE6-4342-B048-85BDC9FD1C3A}</a:tableStyleId>
              </a:tblPr>
              <a:tblGrid>
                <a:gridCol w="2590038"/>
                <a:gridCol w="2590038"/>
                <a:gridCol w="2590038"/>
                <a:gridCol w="2590038"/>
              </a:tblGrid>
              <a:tr h="950976">
                <a:tc>
                  <a:txBody>
                    <a:bodyPr/>
                    <a:lstStyle/>
                    <a:p>
                      <a:pPr>
                        <a:defRPr b="1" sz="1400">
                          <a:latin typeface="Cairo"/>
                        </a:defRPr>
                      </a:pPr>
                      <a:r>
                        <a:t>Deliverable</a:t>
                      </a:r>
                    </a:p>
                  </a:txBody>
                  <a:tcPr/>
                </a:tc>
                <a:tc>
                  <a:txBody>
                    <a:bodyPr/>
                    <a:lstStyle/>
                    <a:p>
                      <a:pPr>
                        <a:defRPr b="1" sz="1400">
                          <a:latin typeface="Cairo"/>
                        </a:defRPr>
                      </a:pPr>
                      <a:r>
                        <a:t>Description</a:t>
                      </a:r>
                    </a:p>
                  </a:txBody>
                  <a:tcPr/>
                </a:tc>
                <a:tc>
                  <a:txBody>
                    <a:bodyPr/>
                    <a:lstStyle/>
                    <a:p>
                      <a:pPr>
                        <a:defRPr b="1" sz="1400">
                          <a:latin typeface="Cairo"/>
                        </a:defRPr>
                      </a:pPr>
                      <a:r>
                        <a:t>Timeline</a:t>
                      </a:r>
                    </a:p>
                  </a:txBody>
                  <a:tcPr/>
                </a:tc>
                <a:tc>
                  <a:txBody>
                    <a:bodyPr/>
                    <a:lstStyle/>
                    <a:p>
                      <a:pPr>
                        <a:defRPr b="1" sz="1400">
                          <a:latin typeface="Cairo"/>
                        </a:defRPr>
                      </a:pPr>
                      <a:r>
                        <a:t>Format</a:t>
                      </a:r>
                    </a:p>
                  </a:txBody>
                  <a:tcPr/>
                </a:tc>
              </a:tr>
              <a:tr h="950976">
                <a:tc>
                  <a:txBody>
                    <a:bodyPr/>
                    <a:lstStyle/>
                    <a:p>
                      <a:pPr>
                        <a:defRPr sz="1200">
                          <a:latin typeface="Open Sans"/>
                        </a:defRPr>
                      </a:pPr>
                      <a:r>
                        <a:t>Deliverable</a:t>
                      </a:r>
                    </a:p>
                  </a:txBody>
                  <a:tcPr/>
                </a:tc>
                <a:tc>
                  <a:txBody>
                    <a:bodyPr/>
                    <a:lstStyle/>
                    <a:p>
                      <a:pPr>
                        <a:defRPr sz="1200">
                          <a:latin typeface="Open Sans"/>
                        </a:defRPr>
                      </a:pPr>
                      <a:r>
                        <a:t>Description</a:t>
                      </a:r>
                    </a:p>
                  </a:txBody>
                  <a:tcPr/>
                </a:tc>
                <a:tc>
                  <a:txBody>
                    <a:bodyPr/>
                    <a:lstStyle/>
                    <a:p>
                      <a:pPr>
                        <a:defRPr sz="1200">
                          <a:latin typeface="Open Sans"/>
                        </a:defRPr>
                      </a:pPr>
                      <a:r>
                        <a:t>Timeline</a:t>
                      </a:r>
                    </a:p>
                  </a:txBody>
                  <a:tcPr/>
                </a:tc>
                <a:tc>
                  <a:txBody>
                    <a:bodyPr/>
                    <a:lstStyle/>
                    <a:p>
                      <a:pPr>
                        <a:defRPr sz="1200">
                          <a:latin typeface="Open Sans"/>
                        </a:defRPr>
                      </a:pPr>
                      <a:r>
                        <a:t>Format</a:t>
                      </a:r>
                    </a:p>
                  </a:txBody>
                  <a:tcPr/>
                </a:tc>
              </a:tr>
              <a:tr h="950976">
                <a:tc>
                  <a:txBody>
                    <a:bodyPr/>
                    <a:lstStyle/>
                    <a:p>
                      <a:pPr>
                        <a:defRPr sz="1200">
                          <a:latin typeface="Open Sans"/>
                        </a:defRPr>
                      </a:pPr>
                      <a:r>
                        <a:t>Inception &amp; Execution Plan</a:t>
                      </a:r>
                    </a:p>
                  </a:txBody>
                  <a:tcPr/>
                </a:tc>
                <a:tc>
                  <a:txBody>
                    <a:bodyPr/>
                    <a:lstStyle/>
                    <a:p>
                      <a:pPr>
                        <a:defRPr sz="1200">
                          <a:latin typeface="Open Sans"/>
                        </a:defRPr>
                      </a:pPr>
                      <a:r>
                        <a:t>Project charter, governance, MS Project baseline, QA and risk plans</a:t>
                      </a:r>
                    </a:p>
                  </a:txBody>
                  <a:tcPr/>
                </a:tc>
                <a:tc>
                  <a:txBody>
                    <a:bodyPr/>
                    <a:lstStyle/>
                    <a:p>
                      <a:pPr>
                        <a:defRPr sz="1200">
                          <a:latin typeface="Open Sans"/>
                        </a:defRPr>
                      </a:pPr>
                      <a:r>
                        <a:t>Month 3</a:t>
                      </a:r>
                    </a:p>
                  </a:txBody>
                  <a:tcPr/>
                </a:tc>
                <a:tc>
                  <a:txBody>
                    <a:bodyPr/>
                    <a:lstStyle/>
                    <a:p>
                      <a:pPr>
                        <a:defRPr sz="1200">
                          <a:latin typeface="Open Sans"/>
                        </a:defRPr>
                      </a:pPr>
                      <a:r>
                        <a:t>PDF Document</a:t>
                      </a:r>
                    </a:p>
                  </a:txBody>
                  <a:tcPr/>
                </a:tc>
              </a:tr>
              <a:tr h="950976">
                <a:tc>
                  <a:txBody>
                    <a:bodyPr/>
                    <a:lstStyle/>
                    <a:p>
                      <a:pPr>
                        <a:defRPr sz="1200">
                          <a:latin typeface="Open Sans"/>
                        </a:defRPr>
                      </a:pPr>
                      <a:r>
                        <a:t>Role Standards &amp; Job Cards</a:t>
                      </a:r>
                    </a:p>
                  </a:txBody>
                  <a:tcPr/>
                </a:tc>
                <a:tc>
                  <a:txBody>
                    <a:bodyPr/>
                    <a:lstStyle/>
                    <a:p>
                      <a:pPr>
                        <a:defRPr sz="1200">
                          <a:latin typeface="Open Sans"/>
                        </a:defRPr>
                      </a:pPr>
                      <a:r>
                        <a:t>Prioritized role list and 10 job description cards with required fields</a:t>
                      </a:r>
                    </a:p>
                  </a:txBody>
                  <a:tcPr/>
                </a:tc>
                <a:tc>
                  <a:txBody>
                    <a:bodyPr/>
                    <a:lstStyle/>
                    <a:p>
                      <a:pPr>
                        <a:defRPr sz="1200">
                          <a:latin typeface="Open Sans"/>
                        </a:defRPr>
                      </a:pPr>
                      <a:r>
                        <a:t>Month 7</a:t>
                      </a:r>
                    </a:p>
                  </a:txBody>
                  <a:tcPr/>
                </a:tc>
                <a:tc>
                  <a:txBody>
                    <a:bodyPr/>
                    <a:lstStyle/>
                    <a:p>
                      <a:pPr>
                        <a:defRPr sz="1200">
                          <a:latin typeface="Open Sans"/>
                        </a:defRPr>
                      </a:pPr>
                      <a:r>
                        <a:t>Report + Templates</a:t>
                      </a:r>
                    </a:p>
                  </a:txBody>
                  <a:tcPr/>
                </a:tc>
              </a:tr>
              <a:tr h="950976">
                <a:tc>
                  <a:txBody>
                    <a:bodyPr/>
                    <a:lstStyle/>
                    <a:p>
                      <a:pPr>
                        <a:defRPr sz="1200">
                          <a:latin typeface="Open Sans"/>
                        </a:defRPr>
                      </a:pPr>
                      <a:r>
                        <a:t>SAQF‑Registered Qualifications</a:t>
                      </a:r>
                    </a:p>
                  </a:txBody>
                  <a:tcPr/>
                </a:tc>
                <a:tc>
                  <a:txBody>
                    <a:bodyPr/>
                    <a:lstStyle/>
                    <a:p>
                      <a:pPr>
                        <a:defRPr sz="1200">
                          <a:latin typeface="Open Sans"/>
                        </a:defRPr>
                      </a:pPr>
                      <a:r>
                        <a:t>10 qualifications with learning outcomes, assessment, and levelling</a:t>
                      </a:r>
                    </a:p>
                  </a:txBody>
                  <a:tcPr/>
                </a:tc>
                <a:tc>
                  <a:txBody>
                    <a:bodyPr/>
                    <a:lstStyle/>
                    <a:p>
                      <a:pPr>
                        <a:defRPr sz="1200">
                          <a:latin typeface="Open Sans"/>
                        </a:defRPr>
                      </a:pPr>
                      <a:r>
                        <a:t>Month 12</a:t>
                      </a:r>
                    </a:p>
                  </a:txBody>
                  <a:tcPr/>
                </a:tc>
                <a:tc>
                  <a:txBody>
                    <a:bodyPr/>
                    <a:lstStyle/>
                    <a:p>
                      <a:pPr>
                        <a:defRPr sz="1200">
                          <a:latin typeface="Open Sans"/>
                        </a:defRPr>
                      </a:pPr>
                      <a:r>
                        <a:t>Submission Files + Certificates</a:t>
                      </a:r>
                    </a:p>
                  </a:txBody>
                  <a:tcPr/>
                </a:tc>
              </a:tr>
            </a:tbl>
          </a:graphicData>
        </a:graphic>
      </p:graphicFrame>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0d80b8d87de6.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Project Deliverables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645920"/>
          <a:ext cx="10360152" cy="4754880"/>
        </p:xfrm>
        <a:graphic>
          <a:graphicData uri="http://schemas.openxmlformats.org/drawingml/2006/table">
            <a:tbl>
              <a:tblPr firstRow="1" bandRow="1">
                <a:tableStyleId>{5C22544A-7EE6-4342-B048-85BDC9FD1C3A}</a:tableStyleId>
              </a:tblPr>
              <a:tblGrid>
                <a:gridCol w="2590038"/>
                <a:gridCol w="2590038"/>
                <a:gridCol w="2590038"/>
                <a:gridCol w="2590038"/>
              </a:tblGrid>
              <a:tr h="1188720">
                <a:tc>
                  <a:txBody>
                    <a:bodyPr/>
                    <a:lstStyle/>
                    <a:p>
                      <a:pPr>
                        <a:defRPr b="1" sz="1400">
                          <a:latin typeface="Cairo"/>
                        </a:defRPr>
                      </a:pPr>
                      <a:r>
                        <a:t>Deliverable</a:t>
                      </a:r>
                    </a:p>
                  </a:txBody>
                  <a:tcPr/>
                </a:tc>
                <a:tc>
                  <a:txBody>
                    <a:bodyPr/>
                    <a:lstStyle/>
                    <a:p>
                      <a:pPr>
                        <a:defRPr b="1" sz="1400">
                          <a:latin typeface="Cairo"/>
                        </a:defRPr>
                      </a:pPr>
                      <a:r>
                        <a:t>Description</a:t>
                      </a:r>
                    </a:p>
                  </a:txBody>
                  <a:tcPr/>
                </a:tc>
                <a:tc>
                  <a:txBody>
                    <a:bodyPr/>
                    <a:lstStyle/>
                    <a:p>
                      <a:pPr>
                        <a:defRPr b="1" sz="1400">
                          <a:latin typeface="Cairo"/>
                        </a:defRPr>
                      </a:pPr>
                      <a:r>
                        <a:t>Timeline</a:t>
                      </a:r>
                    </a:p>
                  </a:txBody>
                  <a:tcPr/>
                </a:tc>
                <a:tc>
                  <a:txBody>
                    <a:bodyPr/>
                    <a:lstStyle/>
                    <a:p>
                      <a:pPr>
                        <a:defRPr b="1" sz="1400">
                          <a:latin typeface="Cairo"/>
                        </a:defRPr>
                      </a:pPr>
                      <a:r>
                        <a:t>Format</a:t>
                      </a:r>
                    </a:p>
                  </a:txBody>
                  <a:tcPr/>
                </a:tc>
              </a:tr>
              <a:tr h="1188720">
                <a:tc>
                  <a:txBody>
                    <a:bodyPr/>
                    <a:lstStyle/>
                    <a:p>
                      <a:pPr>
                        <a:defRPr sz="1200">
                          <a:latin typeface="Open Sans"/>
                        </a:defRPr>
                      </a:pPr>
                      <a:r>
                        <a:t>Deliverable</a:t>
                      </a:r>
                    </a:p>
                  </a:txBody>
                  <a:tcPr/>
                </a:tc>
                <a:tc>
                  <a:txBody>
                    <a:bodyPr/>
                    <a:lstStyle/>
                    <a:p>
                      <a:pPr>
                        <a:defRPr sz="1200">
                          <a:latin typeface="Open Sans"/>
                        </a:defRPr>
                      </a:pPr>
                      <a:r>
                        <a:t>Description</a:t>
                      </a:r>
                    </a:p>
                  </a:txBody>
                  <a:tcPr/>
                </a:tc>
                <a:tc>
                  <a:txBody>
                    <a:bodyPr/>
                    <a:lstStyle/>
                    <a:p>
                      <a:pPr>
                        <a:defRPr sz="1200">
                          <a:latin typeface="Open Sans"/>
                        </a:defRPr>
                      </a:pPr>
                      <a:r>
                        <a:t>Timeline</a:t>
                      </a:r>
                    </a:p>
                  </a:txBody>
                  <a:tcPr/>
                </a:tc>
                <a:tc>
                  <a:txBody>
                    <a:bodyPr/>
                    <a:lstStyle/>
                    <a:p>
                      <a:pPr>
                        <a:defRPr sz="1200">
                          <a:latin typeface="Open Sans"/>
                        </a:defRPr>
                      </a:pPr>
                      <a:r>
                        <a:t>Format</a:t>
                      </a:r>
                    </a:p>
                  </a:txBody>
                  <a:tcPr/>
                </a:tc>
              </a:tr>
              <a:tr h="1188720">
                <a:tc>
                  <a:txBody>
                    <a:bodyPr/>
                    <a:lstStyle/>
                    <a:p>
                      <a:pPr>
                        <a:defRPr sz="1200">
                          <a:latin typeface="Open Sans"/>
                        </a:defRPr>
                      </a:pPr>
                      <a:r>
                        <a:t>Learning Assets</a:t>
                      </a:r>
                    </a:p>
                  </a:txBody>
                  <a:tcPr/>
                </a:tc>
                <a:tc>
                  <a:txBody>
                    <a:bodyPr/>
                    <a:lstStyle/>
                    <a:p>
                      <a:pPr>
                        <a:defRPr sz="1200">
                          <a:latin typeface="Open Sans"/>
                        </a:defRPr>
                      </a:pPr>
                      <a:r>
                        <a:t>10 awareness, 10 training, and 10 interactive e‑learning packages</a:t>
                      </a:r>
                    </a:p>
                  </a:txBody>
                  <a:tcPr/>
                </a:tc>
                <a:tc>
                  <a:txBody>
                    <a:bodyPr/>
                    <a:lstStyle/>
                    <a:p>
                      <a:pPr>
                        <a:defRPr sz="1200">
                          <a:latin typeface="Open Sans"/>
                        </a:defRPr>
                      </a:pPr>
                      <a:r>
                        <a:t>Month 26</a:t>
                      </a:r>
                    </a:p>
                  </a:txBody>
                  <a:tcPr/>
                </a:tc>
                <a:tc>
                  <a:txBody>
                    <a:bodyPr/>
                    <a:lstStyle/>
                    <a:p>
                      <a:pPr>
                        <a:defRPr sz="1200">
                          <a:latin typeface="Open Sans"/>
                        </a:defRPr>
                      </a:pPr>
                      <a:r>
                        <a:t>SCORM/e‑packages + Guides</a:t>
                      </a:r>
                    </a:p>
                  </a:txBody>
                  <a:tcPr/>
                </a:tc>
              </a:tr>
              <a:tr h="1188720">
                <a:tc>
                  <a:txBody>
                    <a:bodyPr/>
                    <a:lstStyle/>
                    <a:p>
                      <a:pPr>
                        <a:defRPr sz="1200">
                          <a:latin typeface="Open Sans"/>
                        </a:defRPr>
                      </a:pPr>
                      <a:r>
                        <a:t>Final Handover</a:t>
                      </a:r>
                    </a:p>
                  </a:txBody>
                  <a:tcPr/>
                </a:tc>
                <a:tc>
                  <a:txBody>
                    <a:bodyPr/>
                    <a:lstStyle/>
                    <a:p>
                      <a:pPr>
                        <a:defRPr sz="1200">
                          <a:latin typeface="Open Sans"/>
                        </a:defRPr>
                      </a:pPr>
                      <a:r>
                        <a:t>Final project report, acceptance letters, e‑archiving submission</a:t>
                      </a:r>
                    </a:p>
                  </a:txBody>
                  <a:tcPr/>
                </a:tc>
                <a:tc>
                  <a:txBody>
                    <a:bodyPr/>
                    <a:lstStyle/>
                    <a:p>
                      <a:pPr>
                        <a:defRPr sz="1200">
                          <a:latin typeface="Open Sans"/>
                        </a:defRPr>
                      </a:pPr>
                      <a:r>
                        <a:t>Month 30</a:t>
                      </a:r>
                    </a:p>
                  </a:txBody>
                  <a:tcPr/>
                </a:tc>
                <a:tc>
                  <a:txBody>
                    <a:bodyPr/>
                    <a:lstStyle/>
                    <a:p>
                      <a:pPr>
                        <a:defRPr sz="1200">
                          <a:latin typeface="Open Sans"/>
                        </a:defRPr>
                      </a:pPr>
                      <a:r>
                        <a:t>Bound Report + Presentation</a:t>
                      </a:r>
                    </a:p>
                  </a:txBody>
                  <a:tcPr/>
                </a:tc>
              </a:tr>
            </a:tbl>
          </a:graphicData>
        </a:graphic>
      </p:graphicFrame>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cc065a161fdf.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Assumptions</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1586b04db45d.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Delivery assumptions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Timely access to stakeholders and data sources with scheduled workshops and interviews coordinated in advance</a:t>
            </a:r>
          </a:p>
          <a:p>
            <a:pPr algn="l">
              <a:defRPr sz="1800" b="0">
                <a:solidFill>
                  <a:srgbClr val="0D2026"/>
                </a:solidFill>
                <a:latin typeface="Open Sans"/>
              </a:defRPr>
            </a:pPr>
            <a:r>
              <a:t>• Review and approval cycles within 10 working days for content with aligned workshop scheduling dependencies</a:t>
            </a:r>
          </a:p>
          <a:p>
            <a:pPr algn="l">
              <a:defRPr sz="1800" b="0">
                <a:solidFill>
                  <a:srgbClr val="0D2026"/>
                </a:solidFill>
                <a:latin typeface="Open Sans"/>
              </a:defRPr>
            </a:pPr>
            <a:r>
              <a:t>• SAQF registration follows standard procedures and timelines with early engagement and buffered schedules</a:t>
            </a:r>
          </a:p>
          <a:p>
            <a:pPr algn="l">
              <a:defRPr sz="1800" b="0">
                <a:solidFill>
                  <a:srgbClr val="0D2026"/>
                </a:solidFill>
                <a:latin typeface="Open Sans"/>
              </a:defRPr>
            </a:pPr>
            <a:r>
              <a:t>• Provider contracts executed to meet delivery milestones and PMO templates provided at project kick‑off</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bcaef01f0807.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Pricing Approach (Summary)</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3ebc6dddf071.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Payment Schedule</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645920"/>
          <a:ext cx="10360152" cy="4754880"/>
        </p:xfrm>
        <a:graphic>
          <a:graphicData uri="http://schemas.openxmlformats.org/drawingml/2006/table">
            <a:tbl>
              <a:tblPr firstRow="1" bandRow="1">
                <a:tableStyleId>{5C22544A-7EE6-4342-B048-85BDC9FD1C3A}</a:tableStyleId>
              </a:tblPr>
              <a:tblGrid>
                <a:gridCol w="2590038"/>
                <a:gridCol w="2590038"/>
                <a:gridCol w="2590038"/>
                <a:gridCol w="2590038"/>
              </a:tblGrid>
              <a:tr h="950976">
                <a:tc>
                  <a:txBody>
                    <a:bodyPr/>
                    <a:lstStyle/>
                    <a:p>
                      <a:pPr>
                        <a:defRPr b="1" sz="1400">
                          <a:latin typeface="Cairo"/>
                        </a:defRPr>
                      </a:pPr>
                      <a:r>
                        <a:t>Phase</a:t>
                      </a:r>
                    </a:p>
                  </a:txBody>
                  <a:tcPr/>
                </a:tc>
                <a:tc>
                  <a:txBody>
                    <a:bodyPr/>
                    <a:lstStyle/>
                    <a:p>
                      <a:pPr>
                        <a:defRPr b="1" sz="1400">
                          <a:latin typeface="Cairo"/>
                        </a:defRPr>
                      </a:pPr>
                      <a:r>
                        <a:t>Milestone</a:t>
                      </a:r>
                    </a:p>
                  </a:txBody>
                  <a:tcPr/>
                </a:tc>
                <a:tc>
                  <a:txBody>
                    <a:bodyPr/>
                    <a:lstStyle/>
                    <a:p>
                      <a:pPr>
                        <a:defRPr b="1" sz="1400">
                          <a:latin typeface="Cairo"/>
                        </a:defRPr>
                      </a:pPr>
                      <a:r>
                        <a:t>Payment %</a:t>
                      </a:r>
                    </a:p>
                  </a:txBody>
                  <a:tcPr/>
                </a:tc>
                <a:tc>
                  <a:txBody>
                    <a:bodyPr/>
                    <a:lstStyle/>
                    <a:p>
                      <a:pPr>
                        <a:defRPr b="1" sz="1400">
                          <a:latin typeface="Cairo"/>
                        </a:defRPr>
                      </a:pPr>
                      <a:r>
                        <a:t>Timeline</a:t>
                      </a:r>
                    </a:p>
                  </a:txBody>
                  <a:tcPr/>
                </a:tc>
              </a:tr>
              <a:tr h="950976">
                <a:tc>
                  <a:txBody>
                    <a:bodyPr/>
                    <a:lstStyle/>
                    <a:p>
                      <a:pPr>
                        <a:defRPr sz="1200">
                          <a:latin typeface="Open Sans"/>
                        </a:defRPr>
                      </a:pPr>
                      <a:r>
                        <a:t>Phase</a:t>
                      </a:r>
                    </a:p>
                  </a:txBody>
                  <a:tcPr/>
                </a:tc>
                <a:tc>
                  <a:txBody>
                    <a:bodyPr/>
                    <a:lstStyle/>
                    <a:p>
                      <a:pPr>
                        <a:defRPr sz="1200">
                          <a:latin typeface="Open Sans"/>
                        </a:defRPr>
                      </a:pPr>
                      <a:r>
                        <a:t>Milestone</a:t>
                      </a:r>
                    </a:p>
                  </a:txBody>
                  <a:tcPr/>
                </a:tc>
                <a:tc>
                  <a:txBody>
                    <a:bodyPr/>
                    <a:lstStyle/>
                    <a:p>
                      <a:pPr>
                        <a:defRPr sz="1200">
                          <a:latin typeface="Open Sans"/>
                        </a:defRPr>
                      </a:pPr>
                      <a:r>
                        <a:t>Payment %</a:t>
                      </a:r>
                    </a:p>
                  </a:txBody>
                  <a:tcPr/>
                </a:tc>
                <a:tc>
                  <a:txBody>
                    <a:bodyPr/>
                    <a:lstStyle/>
                    <a:p>
                      <a:pPr>
                        <a:defRPr sz="1200">
                          <a:latin typeface="Open Sans"/>
                        </a:defRPr>
                      </a:pPr>
                      <a:r>
                        <a:t>Timeline</a:t>
                      </a:r>
                    </a:p>
                  </a:txBody>
                  <a:tcPr/>
                </a:tc>
              </a:tr>
              <a:tr h="950976">
                <a:tc>
                  <a:txBody>
                    <a:bodyPr/>
                    <a:lstStyle/>
                    <a:p>
                      <a:pPr>
                        <a:defRPr sz="1200">
                          <a:latin typeface="Open Sans"/>
                        </a:defRPr>
                      </a:pPr>
                      <a:r>
                        <a:t>Phase 1</a:t>
                      </a:r>
                    </a:p>
                  </a:txBody>
                  <a:tcPr/>
                </a:tc>
                <a:tc>
                  <a:txBody>
                    <a:bodyPr/>
                    <a:lstStyle/>
                    <a:p>
                      <a:pPr>
                        <a:defRPr sz="1200">
                          <a:latin typeface="Open Sans"/>
                        </a:defRPr>
                      </a:pPr>
                      <a:r>
                        <a:t>Contract signing, mobilization, inception approval</a:t>
                      </a:r>
                    </a:p>
                  </a:txBody>
                  <a:tcPr/>
                </a:tc>
                <a:tc>
                  <a:txBody>
                    <a:bodyPr/>
                    <a:lstStyle/>
                    <a:p>
                      <a:pPr>
                        <a:defRPr sz="1200">
                          <a:latin typeface="Open Sans"/>
                        </a:defRPr>
                      </a:pPr>
                      <a:r>
                        <a:t>10%</a:t>
                      </a:r>
                    </a:p>
                  </a:txBody>
                  <a:tcPr/>
                </a:tc>
                <a:tc>
                  <a:txBody>
                    <a:bodyPr/>
                    <a:lstStyle/>
                    <a:p>
                      <a:pPr>
                        <a:defRPr sz="1200">
                          <a:latin typeface="Open Sans"/>
                        </a:defRPr>
                      </a:pPr>
                      <a:r>
                        <a:t>Months 1–3</a:t>
                      </a:r>
                    </a:p>
                  </a:txBody>
                  <a:tcPr/>
                </a:tc>
              </a:tr>
              <a:tr h="950976">
                <a:tc>
                  <a:txBody>
                    <a:bodyPr/>
                    <a:lstStyle/>
                    <a:p>
                      <a:pPr>
                        <a:defRPr sz="1200">
                          <a:latin typeface="Open Sans"/>
                        </a:defRPr>
                      </a:pPr>
                      <a:r>
                        <a:t>Phase 2</a:t>
                      </a:r>
                    </a:p>
                  </a:txBody>
                  <a:tcPr/>
                </a:tc>
                <a:tc>
                  <a:txBody>
                    <a:bodyPr/>
                    <a:lstStyle/>
                    <a:p>
                      <a:pPr>
                        <a:defRPr sz="1200">
                          <a:latin typeface="Open Sans"/>
                        </a:defRPr>
                      </a:pPr>
                      <a:r>
                        <a:t>Job analysis completed and 10 job cards approved</a:t>
                      </a:r>
                    </a:p>
                  </a:txBody>
                  <a:tcPr/>
                </a:tc>
                <a:tc>
                  <a:txBody>
                    <a:bodyPr/>
                    <a:lstStyle/>
                    <a:p>
                      <a:pPr>
                        <a:defRPr sz="1200">
                          <a:latin typeface="Open Sans"/>
                        </a:defRPr>
                      </a:pPr>
                      <a:r>
                        <a:t>15%</a:t>
                      </a:r>
                    </a:p>
                  </a:txBody>
                  <a:tcPr/>
                </a:tc>
                <a:tc>
                  <a:txBody>
                    <a:bodyPr/>
                    <a:lstStyle/>
                    <a:p>
                      <a:pPr>
                        <a:defRPr sz="1200">
                          <a:latin typeface="Open Sans"/>
                        </a:defRPr>
                      </a:pPr>
                      <a:r>
                        <a:t>Months 2–7</a:t>
                      </a:r>
                    </a:p>
                  </a:txBody>
                  <a:tcPr/>
                </a:tc>
              </a:tr>
              <a:tr h="950976">
                <a:tc>
                  <a:txBody>
                    <a:bodyPr/>
                    <a:lstStyle/>
                    <a:p>
                      <a:pPr>
                        <a:defRPr sz="1200">
                          <a:latin typeface="Open Sans"/>
                        </a:defRPr>
                      </a:pPr>
                      <a:r>
                        <a:t>Phase 3</a:t>
                      </a:r>
                    </a:p>
                  </a:txBody>
                  <a:tcPr/>
                </a:tc>
                <a:tc>
                  <a:txBody>
                    <a:bodyPr/>
                    <a:lstStyle/>
                    <a:p>
                      <a:pPr>
                        <a:defRPr sz="1200">
                          <a:latin typeface="Open Sans"/>
                        </a:defRPr>
                      </a:pPr>
                      <a:r>
                        <a:t>10 qualifications designed, submitted, and SAQF‑leveled</a:t>
                      </a:r>
                    </a:p>
                  </a:txBody>
                  <a:tcPr/>
                </a:tc>
                <a:tc>
                  <a:txBody>
                    <a:bodyPr/>
                    <a:lstStyle/>
                    <a:p>
                      <a:pPr>
                        <a:defRPr sz="1200">
                          <a:latin typeface="Open Sans"/>
                        </a:defRPr>
                      </a:pPr>
                      <a:r>
                        <a:t>20%</a:t>
                      </a:r>
                    </a:p>
                  </a:txBody>
                  <a:tcPr/>
                </a:tc>
                <a:tc>
                  <a:txBody>
                    <a:bodyPr/>
                    <a:lstStyle/>
                    <a:p>
                      <a:pPr>
                        <a:defRPr sz="1200">
                          <a:latin typeface="Open Sans"/>
                        </a:defRPr>
                      </a:pPr>
                      <a:r>
                        <a:t>Months 6–12</a:t>
                      </a:r>
                    </a:p>
                  </a:txBody>
                  <a:tcPr/>
                </a:tc>
              </a:tr>
            </a:tbl>
          </a:graphicData>
        </a:graphic>
      </p:graphicFrame>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46e79684d78b.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Payment Schedule</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645920"/>
          <a:ext cx="10360152" cy="4754880"/>
        </p:xfrm>
        <a:graphic>
          <a:graphicData uri="http://schemas.openxmlformats.org/drawingml/2006/table">
            <a:tbl>
              <a:tblPr firstRow="1" bandRow="1">
                <a:tableStyleId>{5C22544A-7EE6-4342-B048-85BDC9FD1C3A}</a:tableStyleId>
              </a:tblPr>
              <a:tblGrid>
                <a:gridCol w="2590038"/>
                <a:gridCol w="2590038"/>
                <a:gridCol w="2590038"/>
                <a:gridCol w="2590038"/>
              </a:tblGrid>
              <a:tr h="950976">
                <a:tc>
                  <a:txBody>
                    <a:bodyPr/>
                    <a:lstStyle/>
                    <a:p>
                      <a:pPr>
                        <a:defRPr b="1" sz="1400">
                          <a:latin typeface="Cairo"/>
                        </a:defRPr>
                      </a:pPr>
                      <a:r>
                        <a:t>Phase</a:t>
                      </a:r>
                    </a:p>
                  </a:txBody>
                  <a:tcPr/>
                </a:tc>
                <a:tc>
                  <a:txBody>
                    <a:bodyPr/>
                    <a:lstStyle/>
                    <a:p>
                      <a:pPr>
                        <a:defRPr b="1" sz="1400">
                          <a:latin typeface="Cairo"/>
                        </a:defRPr>
                      </a:pPr>
                      <a:r>
                        <a:t>Milestone</a:t>
                      </a:r>
                    </a:p>
                  </a:txBody>
                  <a:tcPr/>
                </a:tc>
                <a:tc>
                  <a:txBody>
                    <a:bodyPr/>
                    <a:lstStyle/>
                    <a:p>
                      <a:pPr>
                        <a:defRPr b="1" sz="1400">
                          <a:latin typeface="Cairo"/>
                        </a:defRPr>
                      </a:pPr>
                      <a:r>
                        <a:t>Payment %</a:t>
                      </a:r>
                    </a:p>
                  </a:txBody>
                  <a:tcPr/>
                </a:tc>
                <a:tc>
                  <a:txBody>
                    <a:bodyPr/>
                    <a:lstStyle/>
                    <a:p>
                      <a:pPr>
                        <a:defRPr b="1" sz="1400">
                          <a:latin typeface="Cairo"/>
                        </a:defRPr>
                      </a:pPr>
                      <a:r>
                        <a:t>Timeline</a:t>
                      </a:r>
                    </a:p>
                  </a:txBody>
                  <a:tcPr/>
                </a:tc>
              </a:tr>
              <a:tr h="950976">
                <a:tc>
                  <a:txBody>
                    <a:bodyPr/>
                    <a:lstStyle/>
                    <a:p>
                      <a:pPr>
                        <a:defRPr sz="1200">
                          <a:latin typeface="Open Sans"/>
                        </a:defRPr>
                      </a:pPr>
                      <a:r>
                        <a:t>Phase</a:t>
                      </a:r>
                    </a:p>
                  </a:txBody>
                  <a:tcPr/>
                </a:tc>
                <a:tc>
                  <a:txBody>
                    <a:bodyPr/>
                    <a:lstStyle/>
                    <a:p>
                      <a:pPr>
                        <a:defRPr sz="1200">
                          <a:latin typeface="Open Sans"/>
                        </a:defRPr>
                      </a:pPr>
                      <a:r>
                        <a:t>Milestone</a:t>
                      </a:r>
                    </a:p>
                  </a:txBody>
                  <a:tcPr/>
                </a:tc>
                <a:tc>
                  <a:txBody>
                    <a:bodyPr/>
                    <a:lstStyle/>
                    <a:p>
                      <a:pPr>
                        <a:defRPr sz="1200">
                          <a:latin typeface="Open Sans"/>
                        </a:defRPr>
                      </a:pPr>
                      <a:r>
                        <a:t>Payment %</a:t>
                      </a:r>
                    </a:p>
                  </a:txBody>
                  <a:tcPr/>
                </a:tc>
                <a:tc>
                  <a:txBody>
                    <a:bodyPr/>
                    <a:lstStyle/>
                    <a:p>
                      <a:pPr>
                        <a:defRPr sz="1200">
                          <a:latin typeface="Open Sans"/>
                        </a:defRPr>
                      </a:pPr>
                      <a:r>
                        <a:t>Timeline</a:t>
                      </a:r>
                    </a:p>
                  </a:txBody>
                  <a:tcPr/>
                </a:tc>
              </a:tr>
              <a:tr h="950976">
                <a:tc>
                  <a:txBody>
                    <a:bodyPr/>
                    <a:lstStyle/>
                    <a:p>
                      <a:pPr>
                        <a:defRPr sz="1200">
                          <a:latin typeface="Open Sans"/>
                        </a:defRPr>
                      </a:pPr>
                      <a:r>
                        <a:t>Phase 4</a:t>
                      </a:r>
                    </a:p>
                  </a:txBody>
                  <a:tcPr/>
                </a:tc>
                <a:tc>
                  <a:txBody>
                    <a:bodyPr/>
                    <a:lstStyle/>
                    <a:p>
                      <a:pPr>
                        <a:defRPr sz="1200">
                          <a:latin typeface="Open Sans"/>
                        </a:defRPr>
                      </a:pPr>
                      <a:r>
                        <a:t>Cohorts launched, periodic delivery reports submitted</a:t>
                      </a:r>
                    </a:p>
                  </a:txBody>
                  <a:tcPr/>
                </a:tc>
                <a:tc>
                  <a:txBody>
                    <a:bodyPr/>
                    <a:lstStyle/>
                    <a:p>
                      <a:pPr>
                        <a:defRPr sz="1200">
                          <a:latin typeface="Open Sans"/>
                        </a:defRPr>
                      </a:pPr>
                      <a:r>
                        <a:t>35%</a:t>
                      </a:r>
                    </a:p>
                  </a:txBody>
                  <a:tcPr/>
                </a:tc>
                <a:tc>
                  <a:txBody>
                    <a:bodyPr/>
                    <a:lstStyle/>
                    <a:p>
                      <a:pPr>
                        <a:defRPr sz="1200">
                          <a:latin typeface="Open Sans"/>
                        </a:defRPr>
                      </a:pPr>
                      <a:r>
                        <a:t>Months 10–26</a:t>
                      </a:r>
                    </a:p>
                  </a:txBody>
                  <a:tcPr/>
                </a:tc>
              </a:tr>
              <a:tr h="950976">
                <a:tc>
                  <a:txBody>
                    <a:bodyPr/>
                    <a:lstStyle/>
                    <a:p>
                      <a:pPr>
                        <a:defRPr sz="1200">
                          <a:latin typeface="Open Sans"/>
                        </a:defRPr>
                      </a:pPr>
                      <a:r>
                        <a:t>Phase 5</a:t>
                      </a:r>
                    </a:p>
                  </a:txBody>
                  <a:tcPr/>
                </a:tc>
                <a:tc>
                  <a:txBody>
                    <a:bodyPr/>
                    <a:lstStyle/>
                    <a:p>
                      <a:pPr>
                        <a:defRPr sz="1200">
                          <a:latin typeface="Open Sans"/>
                        </a:defRPr>
                      </a:pPr>
                      <a:r>
                        <a:t>Incentives and enablers roadmap approved</a:t>
                      </a:r>
                    </a:p>
                  </a:txBody>
                  <a:tcPr/>
                </a:tc>
                <a:tc>
                  <a:txBody>
                    <a:bodyPr/>
                    <a:lstStyle/>
                    <a:p>
                      <a:pPr>
                        <a:defRPr sz="1200">
                          <a:latin typeface="Open Sans"/>
                        </a:defRPr>
                      </a:pPr>
                      <a:r>
                        <a:t>8%</a:t>
                      </a:r>
                    </a:p>
                  </a:txBody>
                  <a:tcPr/>
                </a:tc>
                <a:tc>
                  <a:txBody>
                    <a:bodyPr/>
                    <a:lstStyle/>
                    <a:p>
                      <a:pPr>
                        <a:defRPr sz="1200">
                          <a:latin typeface="Open Sans"/>
                        </a:defRPr>
                      </a:pPr>
                      <a:r>
                        <a:t>Months 8–18</a:t>
                      </a:r>
                    </a:p>
                  </a:txBody>
                  <a:tcPr/>
                </a:tc>
              </a:tr>
              <a:tr h="950976">
                <a:tc>
                  <a:txBody>
                    <a:bodyPr/>
                    <a:lstStyle/>
                    <a:p>
                      <a:pPr>
                        <a:defRPr sz="1200">
                          <a:latin typeface="Open Sans"/>
                        </a:defRPr>
                      </a:pPr>
                      <a:r>
                        <a:t>Phase 6</a:t>
                      </a:r>
                    </a:p>
                  </a:txBody>
                  <a:tcPr/>
                </a:tc>
                <a:tc>
                  <a:txBody>
                    <a:bodyPr/>
                    <a:lstStyle/>
                    <a:p>
                      <a:pPr>
                        <a:defRPr sz="1200">
                          <a:latin typeface="Open Sans"/>
                        </a:defRPr>
                      </a:pPr>
                      <a:r>
                        <a:t>Quarterly reports and semi‑annual QA accepted</a:t>
                      </a:r>
                    </a:p>
                  </a:txBody>
                  <a:tcPr/>
                </a:tc>
                <a:tc>
                  <a:txBody>
                    <a:bodyPr/>
                    <a:lstStyle/>
                    <a:p>
                      <a:pPr>
                        <a:defRPr sz="1200">
                          <a:latin typeface="Open Sans"/>
                        </a:defRPr>
                      </a:pPr>
                      <a:r>
                        <a:t>7%</a:t>
                      </a:r>
                    </a:p>
                  </a:txBody>
                  <a:tcPr/>
                </a:tc>
                <a:tc>
                  <a:txBody>
                    <a:bodyPr/>
                    <a:lstStyle/>
                    <a:p>
                      <a:pPr>
                        <a:defRPr sz="1200">
                          <a:latin typeface="Open Sans"/>
                        </a:defRPr>
                      </a:pPr>
                      <a:r>
                        <a:t>Months 1–30</a:t>
                      </a:r>
                    </a:p>
                  </a:txBody>
                  <a:tcPr/>
                </a:tc>
              </a:tr>
            </a:tbl>
          </a:graphicData>
        </a:graphic>
      </p:graphicFrame>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57ed98ee057a.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Payment Schedule</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645920"/>
          <a:ext cx="10360152" cy="4754880"/>
        </p:xfrm>
        <a:graphic>
          <a:graphicData uri="http://schemas.openxmlformats.org/drawingml/2006/table">
            <a:tbl>
              <a:tblPr firstRow="1" bandRow="1">
                <a:tableStyleId>{5C22544A-7EE6-4342-B048-85BDC9FD1C3A}</a:tableStyleId>
              </a:tblPr>
              <a:tblGrid>
                <a:gridCol w="2590038"/>
                <a:gridCol w="2590038"/>
                <a:gridCol w="2590038"/>
                <a:gridCol w="2590038"/>
              </a:tblGrid>
              <a:tr h="1584960">
                <a:tc>
                  <a:txBody>
                    <a:bodyPr/>
                    <a:lstStyle/>
                    <a:p>
                      <a:pPr>
                        <a:defRPr b="1" sz="1400">
                          <a:latin typeface="Cairo"/>
                        </a:defRPr>
                      </a:pPr>
                      <a:r>
                        <a:t>Phase</a:t>
                      </a:r>
                    </a:p>
                  </a:txBody>
                  <a:tcPr/>
                </a:tc>
                <a:tc>
                  <a:txBody>
                    <a:bodyPr/>
                    <a:lstStyle/>
                    <a:p>
                      <a:pPr>
                        <a:defRPr b="1" sz="1400">
                          <a:latin typeface="Cairo"/>
                        </a:defRPr>
                      </a:pPr>
                      <a:r>
                        <a:t>Milestone</a:t>
                      </a:r>
                    </a:p>
                  </a:txBody>
                  <a:tcPr/>
                </a:tc>
                <a:tc>
                  <a:txBody>
                    <a:bodyPr/>
                    <a:lstStyle/>
                    <a:p>
                      <a:pPr>
                        <a:defRPr b="1" sz="1400">
                          <a:latin typeface="Cairo"/>
                        </a:defRPr>
                      </a:pPr>
                      <a:r>
                        <a:t>Payment %</a:t>
                      </a:r>
                    </a:p>
                  </a:txBody>
                  <a:tcPr/>
                </a:tc>
                <a:tc>
                  <a:txBody>
                    <a:bodyPr/>
                    <a:lstStyle/>
                    <a:p>
                      <a:pPr>
                        <a:defRPr b="1" sz="1400">
                          <a:latin typeface="Cairo"/>
                        </a:defRPr>
                      </a:pPr>
                      <a:r>
                        <a:t>Timeline</a:t>
                      </a:r>
                    </a:p>
                  </a:txBody>
                  <a:tcPr/>
                </a:tc>
              </a:tr>
              <a:tr h="1584960">
                <a:tc>
                  <a:txBody>
                    <a:bodyPr/>
                    <a:lstStyle/>
                    <a:p>
                      <a:pPr>
                        <a:defRPr sz="1200">
                          <a:latin typeface="Open Sans"/>
                        </a:defRPr>
                      </a:pPr>
                      <a:r>
                        <a:t>Phase</a:t>
                      </a:r>
                    </a:p>
                  </a:txBody>
                  <a:tcPr/>
                </a:tc>
                <a:tc>
                  <a:txBody>
                    <a:bodyPr/>
                    <a:lstStyle/>
                    <a:p>
                      <a:pPr>
                        <a:defRPr sz="1200">
                          <a:latin typeface="Open Sans"/>
                        </a:defRPr>
                      </a:pPr>
                      <a:r>
                        <a:t>Milestone</a:t>
                      </a:r>
                    </a:p>
                  </a:txBody>
                  <a:tcPr/>
                </a:tc>
                <a:tc>
                  <a:txBody>
                    <a:bodyPr/>
                    <a:lstStyle/>
                    <a:p>
                      <a:pPr>
                        <a:defRPr sz="1200">
                          <a:latin typeface="Open Sans"/>
                        </a:defRPr>
                      </a:pPr>
                      <a:r>
                        <a:t>Payment %</a:t>
                      </a:r>
                    </a:p>
                  </a:txBody>
                  <a:tcPr/>
                </a:tc>
                <a:tc>
                  <a:txBody>
                    <a:bodyPr/>
                    <a:lstStyle/>
                    <a:p>
                      <a:pPr>
                        <a:defRPr sz="1200">
                          <a:latin typeface="Open Sans"/>
                        </a:defRPr>
                      </a:pPr>
                      <a:r>
                        <a:t>Timeline</a:t>
                      </a:r>
                    </a:p>
                  </a:txBody>
                  <a:tcPr/>
                </a:tc>
              </a:tr>
              <a:tr h="1584960">
                <a:tc>
                  <a:txBody>
                    <a:bodyPr/>
                    <a:lstStyle/>
                    <a:p>
                      <a:pPr>
                        <a:defRPr sz="1200">
                          <a:latin typeface="Open Sans"/>
                        </a:defRPr>
                      </a:pPr>
                      <a:r>
                        <a:t>Phase 7</a:t>
                      </a:r>
                    </a:p>
                  </a:txBody>
                  <a:tcPr/>
                </a:tc>
                <a:tc>
                  <a:txBody>
                    <a:bodyPr/>
                    <a:lstStyle/>
                    <a:p>
                      <a:pPr>
                        <a:defRPr sz="1200">
                          <a:latin typeface="Open Sans"/>
                        </a:defRPr>
                      </a:pPr>
                      <a:r>
                        <a:t>Final report and acceptance/closure letters</a:t>
                      </a:r>
                    </a:p>
                  </a:txBody>
                  <a:tcPr/>
                </a:tc>
                <a:tc>
                  <a:txBody>
                    <a:bodyPr/>
                    <a:lstStyle/>
                    <a:p>
                      <a:pPr>
                        <a:defRPr sz="1200">
                          <a:latin typeface="Open Sans"/>
                        </a:defRPr>
                      </a:pPr>
                      <a:r>
                        <a:t>5%</a:t>
                      </a:r>
                    </a:p>
                  </a:txBody>
                  <a:tcPr/>
                </a:tc>
                <a:tc>
                  <a:txBody>
                    <a:bodyPr/>
                    <a:lstStyle/>
                    <a:p>
                      <a:pPr>
                        <a:defRPr sz="1200">
                          <a:latin typeface="Open Sans"/>
                        </a:defRPr>
                      </a:pPr>
                      <a:r>
                        <a:t>Months 28–30</a:t>
                      </a:r>
                    </a:p>
                  </a:txBody>
                  <a:tcPr/>
                </a:tc>
              </a:tr>
            </a:tbl>
          </a:graphicData>
        </a:graphic>
      </p:graphicFrame>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1e27c305.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6c1bfeaf1547.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Budget allocation by phase</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iamond 5"/>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a7156adb50cc.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Relevant Experience and Case Evidence</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9a2209e06283.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Selected project credentials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Social &amp; Economic Surveys Priority Regions I and II: 6 and 12 months with +5M SAR and +10M SAR delivering multi‑source analytics</a:t>
            </a:r>
          </a:p>
          <a:p>
            <a:pPr algn="l">
              <a:defRPr sz="1800" b="0">
                <a:solidFill>
                  <a:srgbClr val="0D2026"/>
                </a:solidFill>
                <a:latin typeface="Open Sans"/>
              </a:defRPr>
            </a:pPr>
            <a:r>
              <a:t>• Guests of Allah workforce standards enablement: 24 months, +9M SAR for role standards and enablement aligned to program objectives</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aca8a9f88a06.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Selected project credentials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Volunteers facilitation package for Guests of Allah: 36 months, +4M SAR with enablement models and benefits for volunteers</a:t>
            </a:r>
          </a:p>
          <a:p>
            <a:pPr algn="l">
              <a:defRPr sz="1800" b="0">
                <a:solidFill>
                  <a:srgbClr val="0D2026"/>
                </a:solidFill>
                <a:latin typeface="Open Sans"/>
              </a:defRPr>
            </a:pPr>
            <a:r>
              <a:t>• Community needs assessment and capacity review: 12 months, +7M SAR with national rural diagnostics and institutional strengthening</a:t>
            </a:r>
          </a:p>
          <a:p>
            <a:pPr algn="l">
              <a:defRPr sz="1800" b="0">
                <a:solidFill>
                  <a:srgbClr val="0D2026"/>
                </a:solidFill>
                <a:latin typeface="Open Sans"/>
              </a:defRPr>
            </a:pPr>
            <a:r>
              <a:t>• Visitor and resident experience measurement in Makkah with JLL: 3 months, +0.5M SAR and a 36‑month framework at +0.3M SAR</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ae7e274004f8.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Why Impetus Strategy</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cbd3a673e2dc.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Value proposition</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 Aligned experience delivering functional standards in Guests of Allah</a:t>
            </a:r>
          </a:p>
          <a:p>
            <a:pPr algn="l">
              <a:defRPr sz="1800" b="0">
                <a:solidFill>
                  <a:srgbClr val="0D2026"/>
                </a:solidFill>
                <a:latin typeface="Open Sans"/>
              </a:defRPr>
            </a:pPr>
            <a:r>
              <a:t>• End‑to‑end capability from job analysis to large‑scale training</a:t>
            </a:r>
          </a:p>
          <a:p>
            <a:pPr algn="l">
              <a:defRPr sz="1800" b="0">
                <a:solidFill>
                  <a:srgbClr val="0D2026"/>
                </a:solidFill>
                <a:latin typeface="Open Sans"/>
              </a:defRPr>
            </a:pPr>
            <a:r>
              <a:t>• Proven governance with weekly tracking and semi‑annual QA</a:t>
            </a:r>
          </a:p>
          <a:p>
            <a:pPr algn="l">
              <a:defRPr sz="1800" b="0">
                <a:solidFill>
                  <a:srgbClr val="0D2026"/>
                </a:solidFill>
                <a:latin typeface="Open Sans"/>
              </a:defRPr>
            </a:pPr>
            <a:r>
              <a:t>• Local presence with Arabic delivery and localization compliance</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header_85c5716a.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section_4b040caf1aed.png"/>
          <p:cNvPicPr>
            <a:picLocks noChangeAspect="1"/>
          </p:cNvPicPr>
          <p:nvPr/>
        </p:nvPicPr>
        <p:blipFill>
          <a:blip r:embed="rId3"/>
          <a:stretch>
            <a:fillRect/>
          </a:stretch>
        </p:blipFill>
        <p:spPr>
          <a:xfrm>
            <a:off x="5550408" y="2011680"/>
            <a:ext cx="1097280" cy="1097280"/>
          </a:xfrm>
          <a:prstGeom prst="rect">
            <a:avLst/>
          </a:prstGeom>
        </p:spPr>
      </p:pic>
      <p:sp>
        <p:nvSpPr>
          <p:cNvPr id="4" name="TextBox 3"/>
          <p:cNvSpPr txBox="1"/>
          <p:nvPr/>
        </p:nvSpPr>
        <p:spPr>
          <a:xfrm>
            <a:off x="914400" y="3474720"/>
            <a:ext cx="10360152" cy="1645920"/>
          </a:xfrm>
          <a:prstGeom prst="rect">
            <a:avLst/>
          </a:prstGeom>
          <a:noFill/>
        </p:spPr>
        <p:txBody>
          <a:bodyPr wrap="square">
            <a:spAutoFit/>
          </a:bodyPr>
          <a:lstStyle/>
          <a:p>
            <a:pPr algn="ctr">
              <a:defRPr sz="3600" b="1">
                <a:solidFill>
                  <a:srgbClr val="0D2026"/>
                </a:solidFill>
                <a:latin typeface="Cairo"/>
              </a:defRPr>
            </a:pPr>
            <a:r>
              <a:t>Thank You</a:t>
            </a:r>
          </a:p>
        </p:txBody>
      </p:sp>
      <p:sp>
        <p:nvSpPr>
          <p:cNvPr id="5" name="Diamond 4"/>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_and_content_afe0bed9.jpg"/>
          <p:cNvPicPr>
            <a:picLocks noChangeAspect="1"/>
          </p:cNvPicPr>
          <p:nvPr/>
        </p:nvPicPr>
        <p:blipFill>
          <a:blip r:embed="rId2"/>
          <a:stretch>
            <a:fillRect/>
          </a:stretch>
        </p:blipFill>
        <p:spPr>
          <a:xfrm>
            <a:off x="0" y="0"/>
            <a:ext cx="12192000" cy="6858000"/>
          </a:xfrm>
          <a:prstGeom prst="rect">
            <a:avLst/>
          </a:prstGeom>
        </p:spPr>
      </p:pic>
      <p:pic>
        <p:nvPicPr>
          <p:cNvPr id="3" name="Picture 2" descr="icon_title_f55e14ab764e.png"/>
          <p:cNvPicPr>
            <a:picLocks noChangeAspect="1"/>
          </p:cNvPicPr>
          <p:nvPr/>
        </p:nvPicPr>
        <p:blipFill>
          <a:blip r:embed="rId3"/>
          <a:stretch>
            <a:fillRect/>
          </a:stretch>
        </p:blipFill>
        <p:spPr>
          <a:xfrm>
            <a:off x="914400" y="594360"/>
            <a:ext cx="457200" cy="457200"/>
          </a:xfrm>
          <a:prstGeom prst="rect">
            <a:avLst/>
          </a:prstGeom>
        </p:spPr>
      </p:pic>
      <p:sp>
        <p:nvSpPr>
          <p:cNvPr id="4" name="TextBox 3"/>
          <p:cNvSpPr txBox="1"/>
          <p:nvPr/>
        </p:nvSpPr>
        <p:spPr>
          <a:xfrm>
            <a:off x="1554480" y="548640"/>
            <a:ext cx="8778240" cy="731520"/>
          </a:xfrm>
          <a:prstGeom prst="rect">
            <a:avLst/>
          </a:prstGeom>
          <a:noFill/>
        </p:spPr>
        <p:txBody>
          <a:bodyPr wrap="square">
            <a:spAutoFit/>
          </a:bodyPr>
          <a:lstStyle/>
          <a:p>
            <a:pPr algn="l">
              <a:defRPr sz="3200" b="1">
                <a:solidFill>
                  <a:srgbClr val="0D2026"/>
                </a:solidFill>
                <a:latin typeface="Cairo"/>
              </a:defRPr>
            </a:pPr>
            <a:r>
              <a:t>Closing and next steps</a:t>
            </a:r>
          </a:p>
        </p:txBody>
      </p:sp>
      <p:sp>
        <p:nvSpPr>
          <p:cNvPr id="5" name="Rectangle 4"/>
          <p:cNvSpPr/>
          <p:nvPr/>
        </p:nvSpPr>
        <p:spPr>
          <a:xfrm>
            <a:off x="1554480" y="1417320"/>
            <a:ext cx="8778240" cy="18288"/>
          </a:xfrm>
          <a:prstGeom prst="rect">
            <a:avLst/>
          </a:prstGeom>
          <a:solidFill>
            <a:srgbClr val="01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4754880"/>
          </a:xfrm>
          <a:prstGeom prst="rect">
            <a:avLst/>
          </a:prstGeom>
          <a:noFill/>
        </p:spPr>
        <p:txBody>
          <a:bodyPr wrap="square">
            <a:spAutoFit/>
          </a:bodyPr>
          <a:lstStyle/>
          <a:p>
            <a:pPr algn="l">
              <a:defRPr sz="1800" b="0">
                <a:solidFill>
                  <a:srgbClr val="0D2026"/>
                </a:solidFill>
                <a:latin typeface="Open Sans"/>
              </a:defRPr>
            </a:pPr>
            <a:r>
              <a:t>Thank you for the opportunity to support Guests of Allah workforce enablement. We welcome discussion on scope, planning, and mobilization. For follow‑up, please reference the Etimad platform and RFP communication channels for official correspondence and clarifications.</a:t>
            </a:r>
          </a:p>
        </p:txBody>
      </p:sp>
      <p:sp>
        <p:nvSpPr>
          <p:cNvPr id="7" name="Diamond 6"/>
          <p:cNvSpPr/>
          <p:nvPr/>
        </p:nvSpPr>
        <p:spPr>
          <a:xfrm>
            <a:off x="182880" y="6217920"/>
            <a:ext cx="365760" cy="365760"/>
          </a:xfrm>
          <a:prstGeom prst="diamond">
            <a:avLst/>
          </a:prstGeom>
          <a:solidFill>
            <a:srgbClr val="C6C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0">
                <a:solidFill>
                  <a:srgbClr val="FFFCEC"/>
                </a:solidFill>
                <a:latin typeface="Cairo"/>
              </a:defRPr>
            </a:pPr>
            <a:r>
              <a:t>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11318</Words>
  <Application>WPS Presentation</Application>
  <PresentationFormat>On-screen Show (4:3)</PresentationFormat>
  <Paragraphs>741</Paragraphs>
  <Slides>44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44</vt:i4>
      </vt:variant>
    </vt:vector>
  </HeadingPairs>
  <TitlesOfParts>
    <vt:vector size="57" baseType="lpstr">
      <vt:lpstr>Arial</vt:lpstr>
      <vt:lpstr>SimSun</vt:lpstr>
      <vt:lpstr>Wingdings</vt:lpstr>
      <vt:lpstr>Arial</vt:lpstr>
      <vt:lpstr>Roboto</vt:lpstr>
      <vt:lpstr>Times New Roman</vt:lpstr>
      <vt:lpstr>Open Sans</vt:lpstr>
      <vt:lpstr>Cairo</vt:lpstr>
      <vt:lpstr>LathaRegular</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Dharani Eswaramurthi</cp:lastModifiedBy>
  <cp:revision>2</cp:revision>
  <dcterms:created xsi:type="dcterms:W3CDTF">2013-01-27T09:14:00Z</dcterms:created>
  <dcterms:modified xsi:type="dcterms:W3CDTF">2026-02-02T10:44:53Z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99780DE7E68B42D88E9F40867CC5BB08_12</vt:lpwstr>
  </property>
  <property fmtid="{D5CDD505-2E9C-101B-9397-08002B2CF9AE}" pid="3" name="KSOProductBuildVer">
    <vt:lpwstr>1033-12.2.0.23196</vt:lpwstr>
  </property>
</Properties>
</file>