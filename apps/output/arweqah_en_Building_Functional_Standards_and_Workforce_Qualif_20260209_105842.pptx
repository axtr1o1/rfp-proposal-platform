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10.png"/><Relationship Id="rId6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blank_b413fe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2560320"/>
            <a:ext cx="94457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CEC"/>
                </a:solidFill>
                <a:latin typeface="Roboto"/>
              </a:defRPr>
            </a:pPr>
            <a:r>
              <a:t>Building Functional Standards and Workforce Qualification for the Guests of Allah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8531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CEC"/>
                </a:solidFill>
                <a:latin typeface="Open Sans"/>
              </a:defRPr>
            </a:pPr>
            <a:r>
              <a:t>Proposal — Prepared by Impetus Strategy</a:t>
            </a:r>
            <a:br/>
            <a:r>
              <a:t>Impetus Strategy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blank_3246436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0" y="2560320"/>
            <a:ext cx="4480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CEC"/>
                </a:solidFill>
                <a:latin typeface="Cairo"/>
              </a:defRPr>
            </a:pPr>
            <a:r>
              <a:t>Agenda</a:t>
            </a:r>
          </a:p>
        </p:txBody>
      </p:sp>
      <p:pic>
        <p:nvPicPr>
          <p:cNvPr id="4" name="Picture 3" descr="772d6dc2474674f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411480" cy="411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19" y="1234440"/>
            <a:ext cx="4480560" cy="71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D2026"/>
                </a:solidFill>
                <a:latin typeface="Open Sans"/>
              </a:defRPr>
            </a:pPr>
            <a:r>
              <a:t>Executive Summary</a:t>
            </a:r>
          </a:p>
        </p:txBody>
      </p:sp>
      <p:pic>
        <p:nvPicPr>
          <p:cNvPr id="6" name="Picture 5" descr="3b4f25e21a23560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042160"/>
            <a:ext cx="411480" cy="411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88719" y="1950720"/>
            <a:ext cx="4480560" cy="71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D2026"/>
                </a:solidFill>
                <a:latin typeface="Open Sans"/>
              </a:defRPr>
            </a:pPr>
            <a:r>
              <a:t>RFP Understanding &amp; Objectives</a:t>
            </a:r>
          </a:p>
        </p:txBody>
      </p:sp>
      <p:pic>
        <p:nvPicPr>
          <p:cNvPr id="8" name="Picture 7" descr="8269f771b1240cb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758440"/>
            <a:ext cx="411480" cy="411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88719" y="2667000"/>
            <a:ext cx="4480560" cy="71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D2026"/>
                </a:solidFill>
                <a:latin typeface="Open Sans"/>
              </a:defRPr>
            </a:pPr>
            <a:r>
              <a:t>Technical Approach &amp; Methodology</a:t>
            </a:r>
          </a:p>
        </p:txBody>
      </p:sp>
      <p:pic>
        <p:nvPicPr>
          <p:cNvPr id="10" name="Picture 9" descr="d53a95c51b0cf62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474720"/>
            <a:ext cx="411480" cy="4114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88719" y="3383280"/>
            <a:ext cx="4480560" cy="71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D2026"/>
                </a:solidFill>
                <a:latin typeface="Open Sans"/>
              </a:defRPr>
            </a:pPr>
            <a:r>
              <a:t>Project Architecture &amp; Technology</a:t>
            </a:r>
          </a:p>
        </p:txBody>
      </p:sp>
      <p:pic>
        <p:nvPicPr>
          <p:cNvPr id="12" name="Picture 11" descr="ad428180cb0a838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190999"/>
            <a:ext cx="411480" cy="4114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88719" y="4099560"/>
            <a:ext cx="4480560" cy="71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D2026"/>
                </a:solidFill>
                <a:latin typeface="Open Sans"/>
              </a:defRPr>
            </a:pPr>
            <a:r>
              <a:t>Relevant Experience</a:t>
            </a:r>
          </a:p>
        </p:txBody>
      </p:sp>
      <p:pic>
        <p:nvPicPr>
          <p:cNvPr id="14" name="Picture 13" descr="f980e65e02ae02a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4907280"/>
            <a:ext cx="411480" cy="4114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88719" y="4815840"/>
            <a:ext cx="4480560" cy="71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D2026"/>
                </a:solidFill>
                <a:latin typeface="Open Sans"/>
              </a:defRPr>
            </a:pPr>
            <a:r>
              <a:t>Project Team</a:t>
            </a:r>
          </a:p>
        </p:txBody>
      </p:sp>
      <p:sp>
        <p:nvSpPr>
          <p:cNvPr id="16" name="Diamond 15"/>
          <p:cNvSpPr/>
          <p:nvPr/>
        </p:nvSpPr>
        <p:spPr>
          <a:xfrm>
            <a:off x="11640312" y="6217920"/>
            <a:ext cx="365760" cy="365760"/>
          </a:xfrm>
          <a:prstGeom prst="diamond">
            <a:avLst/>
          </a:prstGeom>
          <a:solidFill>
            <a:srgbClr val="C6C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0">
                <a:solidFill>
                  <a:srgbClr val="FFFCEC"/>
                </a:solidFill>
                <a:latin typeface="Cairo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blank_3246436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0" y="2560320"/>
            <a:ext cx="4480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CEC"/>
                </a:solidFill>
                <a:latin typeface="Cairo"/>
              </a:defRPr>
            </a:pPr>
            <a:r>
              <a:t>Agenda</a:t>
            </a:r>
          </a:p>
        </p:txBody>
      </p:sp>
      <p:pic>
        <p:nvPicPr>
          <p:cNvPr id="4" name="Picture 3" descr="af94b24b8ad3d6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411480" cy="411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19" y="1234440"/>
            <a:ext cx="4480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D2026"/>
                </a:solidFill>
                <a:latin typeface="Open Sans"/>
              </a:defRPr>
            </a:pPr>
            <a:r>
              <a:t>Compliance with RFP</a:t>
            </a:r>
          </a:p>
        </p:txBody>
      </p:sp>
      <p:pic>
        <p:nvPicPr>
          <p:cNvPr id="6" name="Picture 5" descr="772d6dc2474674f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103120"/>
            <a:ext cx="411480" cy="411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88719" y="2011680"/>
            <a:ext cx="4480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D2026"/>
                </a:solidFill>
                <a:latin typeface="Open Sans"/>
              </a:defRPr>
            </a:pPr>
            <a:r>
              <a:t>Deliverables Summary</a:t>
            </a:r>
          </a:p>
        </p:txBody>
      </p:sp>
      <p:pic>
        <p:nvPicPr>
          <p:cNvPr id="8" name="Picture 7" descr="62e5bb2cc623b5f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880360"/>
            <a:ext cx="411480" cy="411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88719" y="2788920"/>
            <a:ext cx="4480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D2026"/>
                </a:solidFill>
                <a:latin typeface="Open Sans"/>
              </a:defRPr>
            </a:pPr>
            <a:r>
              <a:t>Assumptions &amp; Pricing</a:t>
            </a:r>
          </a:p>
        </p:txBody>
      </p:sp>
      <p:pic>
        <p:nvPicPr>
          <p:cNvPr id="10" name="Picture 9" descr="8269f771b1240cb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657600"/>
            <a:ext cx="411480" cy="4114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88719" y="3566160"/>
            <a:ext cx="4480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D2026"/>
                </a:solidFill>
                <a:latin typeface="Open Sans"/>
              </a:defRPr>
            </a:pPr>
            <a:r>
              <a:t>Why Impetus Strategy</a:t>
            </a:r>
          </a:p>
        </p:txBody>
      </p:sp>
      <p:sp>
        <p:nvSpPr>
          <p:cNvPr id="12" name="Diamond 11"/>
          <p:cNvSpPr/>
          <p:nvPr/>
        </p:nvSpPr>
        <p:spPr>
          <a:xfrm>
            <a:off x="11640312" y="6217920"/>
            <a:ext cx="365760" cy="365760"/>
          </a:xfrm>
          <a:prstGeom prst="diamond">
            <a:avLst/>
          </a:prstGeom>
          <a:solidFill>
            <a:srgbClr val="C6C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0">
                <a:solidFill>
                  <a:srgbClr val="FFFCEC"/>
                </a:solidFill>
                <a:latin typeface="Cairo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title_and_content_afe0bed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772d6dc2474674f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94360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548640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2026"/>
                </a:solidFill>
                <a:latin typeface="Cairo"/>
              </a:defRPr>
            </a:pPr>
            <a: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1554480" y="1417320"/>
            <a:ext cx="8778240" cy="18288"/>
          </a:xfrm>
          <a:prstGeom prst="rect">
            <a:avLst/>
          </a:prstGeom>
          <a:solidFill>
            <a:srgbClr val="0D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601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D2026"/>
                </a:solidFill>
                <a:latin typeface="Open Sans"/>
              </a:defRPr>
            </a:pPr>
            <a:r>
              <a:t>• End-to-end engagement across 7 phases</a:t>
            </a:r>
          </a:p>
          <a:p>
            <a:pPr lvl="1" algn="l"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   ○ Planning to closure with robust governance</a:t>
            </a:r>
          </a:p>
          <a:p>
            <a:pPr lvl="1" algn="l"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   ○ Direct mirror of RFP scope and outcomes</a:t>
            </a:r>
          </a:p>
          <a:p>
            <a:pPr algn="l">
              <a:defRPr sz="2000" b="0">
                <a:solidFill>
                  <a:srgbClr val="0D2026"/>
                </a:solidFill>
                <a:latin typeface="Open Sans"/>
              </a:defRPr>
            </a:pPr>
            <a:r>
              <a:t>• Ten prioritized roles and SAQF-aligned standards</a:t>
            </a:r>
          </a:p>
          <a:p>
            <a:pPr lvl="1" algn="l"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   ○ JD cards with competency models and learning domains</a:t>
            </a:r>
          </a:p>
          <a:p>
            <a:pPr lvl="1" algn="l"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   ○ Qualification specifications mapped to SAQF</a:t>
            </a:r>
          </a:p>
          <a:p>
            <a:pPr algn="l">
              <a:defRPr sz="2000" b="0">
                <a:solidFill>
                  <a:srgbClr val="0D2026"/>
                </a:solidFill>
                <a:latin typeface="Open Sans"/>
              </a:defRPr>
            </a:pPr>
            <a:r>
              <a:t>• Ten qualifications registered on SAQF</a:t>
            </a:r>
          </a:p>
          <a:p>
            <a:pPr lvl="1" algn="l"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   ○ Stakeholder participation and evidence-based submissions</a:t>
            </a:r>
          </a:p>
          <a:p>
            <a:pPr lvl="1" algn="l"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   ○ Iterative review and approvals management</a:t>
            </a:r>
          </a:p>
        </p:txBody>
      </p:sp>
      <p:sp>
        <p:nvSpPr>
          <p:cNvPr id="7" name="Diamond 6"/>
          <p:cNvSpPr/>
          <p:nvPr/>
        </p:nvSpPr>
        <p:spPr>
          <a:xfrm>
            <a:off x="11640312" y="6217920"/>
            <a:ext cx="365760" cy="365760"/>
          </a:xfrm>
          <a:prstGeom prst="diamond">
            <a:avLst/>
          </a:prstGeom>
          <a:solidFill>
            <a:srgbClr val="C6C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0">
                <a:solidFill>
                  <a:srgbClr val="0D2026"/>
                </a:solidFill>
                <a:latin typeface="Cairo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title_and_content_afe0bed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772d6dc2474674f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94360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548640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2026"/>
                </a:solidFill>
                <a:latin typeface="Cairo"/>
              </a:defRPr>
            </a:pPr>
            <a: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1554480" y="1417320"/>
            <a:ext cx="8778240" cy="18288"/>
          </a:xfrm>
          <a:prstGeom prst="rect">
            <a:avLst/>
          </a:prstGeom>
          <a:solidFill>
            <a:srgbClr val="0D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601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D2026"/>
                </a:solidFill>
                <a:latin typeface="Open Sans"/>
              </a:defRPr>
            </a:pPr>
            <a:r>
              <a:t>• Upskilling at scale: 1,000 candidates</a:t>
            </a:r>
          </a:p>
          <a:p>
            <a:pPr lvl="1" algn="l"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   ○ Content, delivery partnerships, and PMO</a:t>
            </a:r>
          </a:p>
          <a:p>
            <a:pPr lvl="1" algn="l"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   ○ Curricula and e-learning packages</a:t>
            </a:r>
          </a:p>
          <a:p>
            <a:pPr algn="l">
              <a:defRPr sz="2000" b="0">
                <a:solidFill>
                  <a:srgbClr val="0D2026"/>
                </a:solidFill>
                <a:latin typeface="Open Sans"/>
              </a:defRPr>
            </a:pPr>
            <a:r>
              <a:t>• Incentives and enablers portfolio</a:t>
            </a:r>
          </a:p>
          <a:p>
            <a:pPr lvl="1" algn="l"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   ○ Awareness campaigns with implementation roadmaps</a:t>
            </a:r>
          </a:p>
          <a:p>
            <a:pPr lvl="1" algn="l"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   ○ Practical levers to boost sector participation</a:t>
            </a:r>
          </a:p>
          <a:p>
            <a:pPr algn="l">
              <a:defRPr sz="2000" b="0">
                <a:solidFill>
                  <a:srgbClr val="0D2026"/>
                </a:solidFill>
                <a:latin typeface="Open Sans"/>
              </a:defRPr>
            </a:pPr>
            <a:r>
              <a:t>• Quality, risk, and knowledge transfer</a:t>
            </a:r>
          </a:p>
          <a:p>
            <a:pPr lvl="1" algn="l"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   ○ Weekly reporting and milestone reviews</a:t>
            </a:r>
          </a:p>
          <a:p>
            <a:pPr lvl="1" algn="l"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   ○ Capacity building for client teams</a:t>
            </a:r>
          </a:p>
        </p:txBody>
      </p:sp>
      <p:sp>
        <p:nvSpPr>
          <p:cNvPr id="7" name="Diamond 6"/>
          <p:cNvSpPr/>
          <p:nvPr/>
        </p:nvSpPr>
        <p:spPr>
          <a:xfrm>
            <a:off x="11640312" y="6217920"/>
            <a:ext cx="365760" cy="365760"/>
          </a:xfrm>
          <a:prstGeom prst="diamond">
            <a:avLst/>
          </a:prstGeom>
          <a:solidFill>
            <a:srgbClr val="C6C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0">
                <a:solidFill>
                  <a:srgbClr val="0D2026"/>
                </a:solidFill>
                <a:latin typeface="Cairo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title_and_content_afe0bed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e918a32f274b149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94360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548640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2026"/>
                </a:solidFill>
                <a:latin typeface="Cairo"/>
              </a:defRPr>
            </a:pPr>
            <a:r>
              <a:t>Company 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554480" y="1417320"/>
            <a:ext cx="8778240" cy="18288"/>
          </a:xfrm>
          <a:prstGeom prst="rect">
            <a:avLst/>
          </a:prstGeom>
          <a:solidFill>
            <a:srgbClr val="0D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601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D2026"/>
                </a:solidFill>
                <a:latin typeface="Open Sans"/>
              </a:defRPr>
            </a:pPr>
            <a:r>
              <a:t>• Strategy and impact consulting across priority sectors</a:t>
            </a:r>
          </a:p>
          <a:p>
            <a:pPr lvl="1" algn="l"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   ○ Public sector and third sector transformation</a:t>
            </a:r>
          </a:p>
          <a:p>
            <a:pPr lvl="1" algn="l"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   ○ Education, skills, social and economic development</a:t>
            </a:r>
          </a:p>
          <a:p>
            <a:pPr algn="l">
              <a:defRPr sz="2000" b="0">
                <a:solidFill>
                  <a:srgbClr val="0D2026"/>
                </a:solidFill>
                <a:latin typeface="Open Sans"/>
              </a:defRPr>
            </a:pPr>
            <a:r>
              <a:t>• Measurable impact beyond profitability</a:t>
            </a:r>
          </a:p>
          <a:p>
            <a:pPr lvl="1" algn="l"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   ○ Operating models, policies, and impact investment</a:t>
            </a:r>
          </a:p>
          <a:p>
            <a:pPr lvl="1" algn="l"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   ○ Large-scale capability-building programs</a:t>
            </a:r>
          </a:p>
          <a:p>
            <a:pPr algn="l">
              <a:defRPr sz="2000" b="0">
                <a:solidFill>
                  <a:srgbClr val="0D2026"/>
                </a:solidFill>
                <a:latin typeface="Open Sans"/>
              </a:defRPr>
            </a:pPr>
            <a:r>
              <a:t>• Capabilities portfolio</a:t>
            </a:r>
          </a:p>
          <a:p>
            <a:pPr lvl="1" algn="l"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   ○ Strategy, governance, and ecosystem design</a:t>
            </a:r>
          </a:p>
          <a:p>
            <a:pPr lvl="1" algn="l"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   ○ Impact, sustainability, digital social development</a:t>
            </a:r>
          </a:p>
          <a:p>
            <a:pPr algn="l">
              <a:defRPr sz="2000" b="0">
                <a:solidFill>
                  <a:srgbClr val="0D2026"/>
                </a:solidFill>
                <a:latin typeface="Open Sans"/>
              </a:defRPr>
            </a:pPr>
            <a:r>
              <a:t>• Stakeholder enablement and investment</a:t>
            </a:r>
          </a:p>
          <a:p>
            <a:pPr lvl="1" algn="l"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   ○ Service enablement and engagement</a:t>
            </a:r>
          </a:p>
          <a:p>
            <a:pPr lvl="1" algn="l"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   ○ Impact investment strategies</a:t>
            </a:r>
          </a:p>
          <a:p>
            <a:pPr algn="l">
              <a:defRPr sz="2000" b="0">
                <a:solidFill>
                  <a:srgbClr val="0D2026"/>
                </a:solidFill>
                <a:latin typeface="Open Sans"/>
              </a:defRPr>
            </a:pPr>
            <a:r>
              <a:t>• Global partnerships and knowledge networks</a:t>
            </a:r>
          </a:p>
          <a:p>
            <a:pPr lvl="1" algn="l"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   ○ Advanced methodologies</a:t>
            </a:r>
          </a:p>
          <a:p>
            <a:pPr lvl="1" algn="l"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   ○ Deep sector insights</a:t>
            </a:r>
          </a:p>
        </p:txBody>
      </p:sp>
      <p:sp>
        <p:nvSpPr>
          <p:cNvPr id="7" name="Diamond 6"/>
          <p:cNvSpPr/>
          <p:nvPr/>
        </p:nvSpPr>
        <p:spPr>
          <a:xfrm>
            <a:off x="11640312" y="6217920"/>
            <a:ext cx="365760" cy="365760"/>
          </a:xfrm>
          <a:prstGeom prst="diamond">
            <a:avLst/>
          </a:prstGeom>
          <a:solidFill>
            <a:srgbClr val="C6C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0">
                <a:solidFill>
                  <a:srgbClr val="0D2026"/>
                </a:solidFill>
                <a:latin typeface="Cairo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title_and_content_afe0bed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3b4f25e21a23560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94360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548640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2026"/>
                </a:solidFill>
                <a:latin typeface="Cairo"/>
              </a:defRPr>
            </a:pPr>
            <a:r>
              <a:t>Understanding of the RFP and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554480" y="1417320"/>
            <a:ext cx="8778240" cy="18288"/>
          </a:xfrm>
          <a:prstGeom prst="rect">
            <a:avLst/>
          </a:prstGeom>
          <a:solidFill>
            <a:srgbClr val="0D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601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D2026"/>
                </a:solidFill>
                <a:latin typeface="Open Sans"/>
              </a:defRPr>
            </a:pPr>
            <a:r>
              <a:t>• Analyze and define 10 priority roles</a:t>
            </a:r>
          </a:p>
          <a:p>
            <a:pPr lvl="1" algn="l"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   ○ Non-profit ecosystem serving pilgrims and Umrah</a:t>
            </a:r>
          </a:p>
          <a:p>
            <a:pPr lvl="1" algn="l"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   ○ Role clarity and minimum requirements</a:t>
            </a:r>
          </a:p>
          <a:p>
            <a:pPr algn="l">
              <a:defRPr sz="2000" b="0">
                <a:solidFill>
                  <a:srgbClr val="0D2026"/>
                </a:solidFill>
                <a:latin typeface="Open Sans"/>
              </a:defRPr>
            </a:pPr>
            <a:r>
              <a:t>• Specify education, experience, and competencies</a:t>
            </a:r>
          </a:p>
          <a:p>
            <a:pPr lvl="1" algn="l"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   ○ Behavioral and technical</a:t>
            </a:r>
          </a:p>
          <a:p>
            <a:pPr lvl="1" algn="l"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   ○ Leadership and role levels</a:t>
            </a:r>
          </a:p>
          <a:p>
            <a:pPr algn="l">
              <a:defRPr sz="2000" b="0">
                <a:solidFill>
                  <a:srgbClr val="0D2026"/>
                </a:solidFill>
                <a:latin typeface="Open Sans"/>
              </a:defRPr>
            </a:pPr>
            <a:r>
              <a:t>• Design and register 10 SAQF-aligned qualifications</a:t>
            </a:r>
          </a:p>
          <a:p>
            <a:pPr lvl="1" algn="l"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   ○ Learning outcomes, levels, progression</a:t>
            </a:r>
          </a:p>
          <a:p>
            <a:pPr lvl="1" algn="l"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   ○ Assessment strategies</a:t>
            </a:r>
          </a:p>
          <a:p>
            <a:pPr algn="l">
              <a:defRPr sz="2000" b="0">
                <a:solidFill>
                  <a:srgbClr val="0D2026"/>
                </a:solidFill>
                <a:latin typeface="Open Sans"/>
              </a:defRPr>
            </a:pPr>
            <a:r>
              <a:t>• Deliver programs to 1,000 candidates</a:t>
            </a:r>
          </a:p>
          <a:p>
            <a:pPr lvl="1" algn="l"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   ○ Strong governance and reporting</a:t>
            </a:r>
          </a:p>
          <a:p>
            <a:pPr lvl="1" algn="l"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   ○ Localization and quality assurance</a:t>
            </a:r>
          </a:p>
          <a:p>
            <a:pPr algn="l">
              <a:defRPr sz="2000" b="0">
                <a:solidFill>
                  <a:srgbClr val="0D2026"/>
                </a:solidFill>
                <a:latin typeface="Open Sans"/>
              </a:defRPr>
            </a:pPr>
            <a:r>
              <a:t>• Establish incentives and enablers</a:t>
            </a:r>
          </a:p>
          <a:p>
            <a:pPr lvl="1" algn="l"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   ○ Boost workforce participation and impact</a:t>
            </a:r>
          </a:p>
          <a:p>
            <a:pPr lvl="1" algn="l"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   ○ Compliance with Saudi regulations</a:t>
            </a:r>
          </a:p>
        </p:txBody>
      </p:sp>
      <p:sp>
        <p:nvSpPr>
          <p:cNvPr id="7" name="Diamond 6"/>
          <p:cNvSpPr/>
          <p:nvPr/>
        </p:nvSpPr>
        <p:spPr>
          <a:xfrm>
            <a:off x="11640312" y="6217920"/>
            <a:ext cx="365760" cy="365760"/>
          </a:xfrm>
          <a:prstGeom prst="diamond">
            <a:avLst/>
          </a:prstGeom>
          <a:solidFill>
            <a:srgbClr val="C6C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0">
                <a:solidFill>
                  <a:srgbClr val="0D2026"/>
                </a:solidFill>
                <a:latin typeface="Cairo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title_and_content_afe0bed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46129433375eb8d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94360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548640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2026"/>
                </a:solidFill>
                <a:latin typeface="Cairo"/>
              </a:defRPr>
            </a:pPr>
            <a:r>
              <a:t>Critical Success Factors (from RFP)</a:t>
            </a:r>
          </a:p>
        </p:txBody>
      </p:sp>
      <p:sp>
        <p:nvSpPr>
          <p:cNvPr id="5" name="Rectangle 4"/>
          <p:cNvSpPr/>
          <p:nvPr/>
        </p:nvSpPr>
        <p:spPr>
          <a:xfrm>
            <a:off x="1554480" y="1417320"/>
            <a:ext cx="8778240" cy="18288"/>
          </a:xfrm>
          <a:prstGeom prst="rect">
            <a:avLst/>
          </a:prstGeom>
          <a:solidFill>
            <a:srgbClr val="0D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601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D2026"/>
                </a:solidFill>
                <a:latin typeface="Open Sans"/>
              </a:defRPr>
            </a:pPr>
            <a:r>
              <a:t>• Transparent and equitable processes</a:t>
            </a:r>
          </a:p>
          <a:p>
            <a:pPr lvl="1" algn="l"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   ○ Confidentiality and fairness</a:t>
            </a:r>
          </a:p>
          <a:p>
            <a:pPr algn="l">
              <a:defRPr sz="2000" b="0">
                <a:solidFill>
                  <a:srgbClr val="0D2026"/>
                </a:solidFill>
                <a:latin typeface="Open Sans"/>
              </a:defRPr>
            </a:pPr>
            <a:r>
              <a:t>• Robust governance, risk, and QA</a:t>
            </a:r>
          </a:p>
          <a:p>
            <a:pPr lvl="1" algn="l"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   ○ Clear acceptance criteria and reviews</a:t>
            </a:r>
          </a:p>
          <a:p>
            <a:pPr algn="l">
              <a:defRPr sz="2000" b="0">
                <a:solidFill>
                  <a:srgbClr val="0D2026"/>
                </a:solidFill>
                <a:latin typeface="Open Sans"/>
              </a:defRPr>
            </a:pPr>
            <a:r>
              <a:t>• Local content and workforce</a:t>
            </a:r>
          </a:p>
          <a:p>
            <a:pPr lvl="1" algn="l"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   ○ Arabic-first materials and Saudization</a:t>
            </a:r>
          </a:p>
          <a:p>
            <a:pPr algn="l">
              <a:defRPr sz="2000" b="0">
                <a:solidFill>
                  <a:srgbClr val="0D2026"/>
                </a:solidFill>
                <a:latin typeface="Open Sans"/>
              </a:defRPr>
            </a:pPr>
            <a:r>
              <a:t>• Methodology and workplan strength</a:t>
            </a:r>
          </a:p>
          <a:p>
            <a:pPr lvl="1" algn="l"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   ○ Meets evaluation criteria</a:t>
            </a:r>
          </a:p>
          <a:p>
            <a:pPr lvl="1" algn="l"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   ○ Demonstrated relevant experience</a:t>
            </a:r>
          </a:p>
        </p:txBody>
      </p:sp>
      <p:sp>
        <p:nvSpPr>
          <p:cNvPr id="7" name="Diamond 6"/>
          <p:cNvSpPr/>
          <p:nvPr/>
        </p:nvSpPr>
        <p:spPr>
          <a:xfrm>
            <a:off x="11640312" y="6217920"/>
            <a:ext cx="365760" cy="365760"/>
          </a:xfrm>
          <a:prstGeom prst="diamond">
            <a:avLst/>
          </a:prstGeom>
          <a:solidFill>
            <a:srgbClr val="C6C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0">
                <a:solidFill>
                  <a:srgbClr val="0D2026"/>
                </a:solidFill>
                <a:latin typeface="Cairo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ection_header_85c5716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5a2931a91ca708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0408" y="201168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474720"/>
            <a:ext cx="103601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CEC"/>
                </a:solidFill>
                <a:latin typeface="Cairo"/>
              </a:defRPr>
            </a:pPr>
            <a:r>
              <a:t>Technical Approach &amp; Methodology</a:t>
            </a:r>
          </a:p>
        </p:txBody>
      </p:sp>
      <p:sp>
        <p:nvSpPr>
          <p:cNvPr id="5" name="Diamond 4"/>
          <p:cNvSpPr/>
          <p:nvPr/>
        </p:nvSpPr>
        <p:spPr>
          <a:xfrm>
            <a:off x="11640312" y="6217920"/>
            <a:ext cx="365760" cy="365760"/>
          </a:xfrm>
          <a:prstGeom prst="diamond">
            <a:avLst/>
          </a:prstGeom>
          <a:solidFill>
            <a:srgbClr val="C6C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0">
                <a:solidFill>
                  <a:srgbClr val="FFFCEC"/>
                </a:solidFill>
                <a:latin typeface="Cairo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title_and_content_afe0bed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8269f771b1240cb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94360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548640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2026"/>
                </a:solidFill>
                <a:latin typeface="Cairo"/>
              </a:defRPr>
            </a:pPr>
            <a:r>
              <a:t>Framework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1554480" y="1417320"/>
            <a:ext cx="8778240" cy="18288"/>
          </a:xfrm>
          <a:prstGeom prst="rect">
            <a:avLst/>
          </a:prstGeom>
          <a:solidFill>
            <a:srgbClr val="0D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601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D2026"/>
                </a:solidFill>
                <a:latin typeface="Open Sans"/>
              </a:defRPr>
            </a:pPr>
            <a:r>
              <a:t>• Policy-to-Operations alignment</a:t>
            </a:r>
          </a:p>
          <a:p>
            <a:pPr lvl="1" algn="l"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   ○ Vision 2030, program objectives, regulations</a:t>
            </a:r>
          </a:p>
          <a:p>
            <a:pPr lvl="1" algn="l"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   ○ Mapped to role standards and delivery</a:t>
            </a:r>
          </a:p>
          <a:p>
            <a:pPr algn="l">
              <a:defRPr sz="2000" b="0">
                <a:solidFill>
                  <a:srgbClr val="0D2026"/>
                </a:solidFill>
                <a:latin typeface="Open Sans"/>
              </a:defRPr>
            </a:pPr>
            <a:r>
              <a:t>• Competency and Qualification design</a:t>
            </a:r>
          </a:p>
          <a:p>
            <a:pPr lvl="1" algn="l"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   ○ Job architecture and models</a:t>
            </a:r>
          </a:p>
          <a:p>
            <a:pPr lvl="1" algn="l"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   ○ SAQF-compliant blueprints and assessments</a:t>
            </a:r>
          </a:p>
          <a:p>
            <a:pPr algn="l">
              <a:defRPr sz="2000" b="0">
                <a:solidFill>
                  <a:srgbClr val="0D2026"/>
                </a:solidFill>
                <a:latin typeface="Open Sans"/>
              </a:defRPr>
            </a:pPr>
            <a:r>
              <a:t>• Delivery and Impact engine</a:t>
            </a:r>
          </a:p>
          <a:p>
            <a:pPr lvl="1" algn="l"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   ○ Training pathways and partner enablement</a:t>
            </a:r>
          </a:p>
          <a:p>
            <a:pPr lvl="1" algn="l"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   ○ Program management and incentives activation</a:t>
            </a:r>
          </a:p>
        </p:txBody>
      </p:sp>
      <p:sp>
        <p:nvSpPr>
          <p:cNvPr id="7" name="Diamond 6"/>
          <p:cNvSpPr/>
          <p:nvPr/>
        </p:nvSpPr>
        <p:spPr>
          <a:xfrm>
            <a:off x="11640312" y="6217920"/>
            <a:ext cx="457200" cy="365760"/>
          </a:xfrm>
          <a:prstGeom prst="diamond">
            <a:avLst/>
          </a:prstGeom>
          <a:solidFill>
            <a:srgbClr val="C6C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0">
                <a:solidFill>
                  <a:srgbClr val="0D2026"/>
                </a:solidFill>
                <a:latin typeface="Cairo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title_and_content_afe0bed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8269f771b1240cb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94360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548640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2026"/>
                </a:solidFill>
                <a:latin typeface="Cairo"/>
              </a:defRPr>
            </a:pPr>
            <a:r>
              <a:t>Phased Methodology (Phases 1–3)</a:t>
            </a:r>
          </a:p>
        </p:txBody>
      </p:sp>
      <p:sp>
        <p:nvSpPr>
          <p:cNvPr id="5" name="Rectangle 4"/>
          <p:cNvSpPr/>
          <p:nvPr/>
        </p:nvSpPr>
        <p:spPr>
          <a:xfrm>
            <a:off x="1554480" y="1417320"/>
            <a:ext cx="8778240" cy="18288"/>
          </a:xfrm>
          <a:prstGeom prst="rect">
            <a:avLst/>
          </a:prstGeom>
          <a:solidFill>
            <a:srgbClr val="0D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601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D2026"/>
                </a:solidFill>
                <a:latin typeface="Open Sans"/>
              </a:defRPr>
            </a:pPr>
            <a:r>
              <a:t>• Phase 1: Planning &amp; Mobilization</a:t>
            </a:r>
          </a:p>
          <a:p>
            <a:pPr lvl="1" algn="l"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   ○ Charter, governance, acceptance criteria</a:t>
            </a:r>
          </a:p>
          <a:p>
            <a:pPr lvl="1" algn="l"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   ○ MS Project plan, risk &amp; quality, KM setup</a:t>
            </a:r>
          </a:p>
          <a:p>
            <a:pPr algn="l">
              <a:defRPr sz="2000" b="0">
                <a:solidFill>
                  <a:srgbClr val="0D2026"/>
                </a:solidFill>
                <a:latin typeface="Open Sans"/>
              </a:defRPr>
            </a:pPr>
            <a:r>
              <a:t>• Phase 2: Job Analysis &amp; Role Descriptions</a:t>
            </a:r>
          </a:p>
          <a:p>
            <a:pPr lvl="1" algn="l"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   ○ Journey review, role inventory, surveys/FGDs</a:t>
            </a:r>
          </a:p>
          <a:p>
            <a:pPr lvl="1" algn="l"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   ○ 10 JDs per Saudi Classification of Occupations</a:t>
            </a:r>
          </a:p>
          <a:p>
            <a:pPr algn="l">
              <a:defRPr sz="2000" b="0">
                <a:solidFill>
                  <a:srgbClr val="0D2026"/>
                </a:solidFill>
                <a:latin typeface="Open Sans"/>
              </a:defRPr>
            </a:pPr>
            <a:r>
              <a:t>• Phase 3: SAQF Alignment</a:t>
            </a:r>
          </a:p>
          <a:p>
            <a:pPr lvl="1" algn="l"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   ○ Purpose, structure, outcomes, assessment</a:t>
            </a:r>
          </a:p>
          <a:p>
            <a:pPr lvl="1" algn="l"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   ○ Register 10 qualifications; manage reviews</a:t>
            </a:r>
          </a:p>
        </p:txBody>
      </p:sp>
      <p:sp>
        <p:nvSpPr>
          <p:cNvPr id="7" name="Diamond 6"/>
          <p:cNvSpPr/>
          <p:nvPr/>
        </p:nvSpPr>
        <p:spPr>
          <a:xfrm>
            <a:off x="11640312" y="6217920"/>
            <a:ext cx="457200" cy="365760"/>
          </a:xfrm>
          <a:prstGeom prst="diamond">
            <a:avLst/>
          </a:prstGeom>
          <a:solidFill>
            <a:srgbClr val="C6C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0">
                <a:solidFill>
                  <a:srgbClr val="0D2026"/>
                </a:solidFill>
                <a:latin typeface="Cairo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title_and_content_afe0bed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8269f771b1240cb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94360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548640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2026"/>
                </a:solidFill>
                <a:latin typeface="Cairo"/>
              </a:defRPr>
            </a:pPr>
            <a:r>
              <a:t>Phased Methodology (Phases 4–7)</a:t>
            </a:r>
          </a:p>
        </p:txBody>
      </p:sp>
      <p:sp>
        <p:nvSpPr>
          <p:cNvPr id="5" name="Rectangle 4"/>
          <p:cNvSpPr/>
          <p:nvPr/>
        </p:nvSpPr>
        <p:spPr>
          <a:xfrm>
            <a:off x="1554480" y="1417320"/>
            <a:ext cx="8778240" cy="18288"/>
          </a:xfrm>
          <a:prstGeom prst="rect">
            <a:avLst/>
          </a:prstGeom>
          <a:solidFill>
            <a:srgbClr val="0D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601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D2026"/>
                </a:solidFill>
                <a:latin typeface="Open Sans"/>
              </a:defRPr>
            </a:pPr>
            <a:r>
              <a:t>• Phase 4: Qualification Program Delivery</a:t>
            </a:r>
          </a:p>
          <a:p>
            <a:pPr lvl="1" algn="l"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   ○ Provider criteria, partnership framework</a:t>
            </a:r>
          </a:p>
          <a:p>
            <a:pPr lvl="1" algn="l"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   ○ ILPs, ops &amp; logistics for 1,000; ≥5 reports</a:t>
            </a:r>
          </a:p>
          <a:p>
            <a:pPr algn="l">
              <a:defRPr sz="2000" b="0">
                <a:solidFill>
                  <a:srgbClr val="0D2026"/>
                </a:solidFill>
                <a:latin typeface="Open Sans"/>
              </a:defRPr>
            </a:pPr>
            <a:r>
              <a:t>• Phase 5: Incentives &amp; Enablers</a:t>
            </a:r>
          </a:p>
          <a:p>
            <a:pPr lvl="1" algn="l"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   ○ Diagnose, analyze interfaces, enabling levers</a:t>
            </a:r>
          </a:p>
          <a:p>
            <a:pPr lvl="1" algn="l"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   ○ Portfolio, roadmap, 3 campaigns, measure impact</a:t>
            </a:r>
          </a:p>
          <a:p>
            <a:pPr algn="l">
              <a:defRPr sz="2000" b="0">
                <a:solidFill>
                  <a:srgbClr val="0D2026"/>
                </a:solidFill>
                <a:latin typeface="Open Sans"/>
              </a:defRPr>
            </a:pPr>
            <a:r>
              <a:t>• Phase 6: Monitoring &amp; Control</a:t>
            </a:r>
          </a:p>
          <a:p>
            <a:pPr lvl="1" algn="l"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   ○ Weekly tracking &amp; dashboards</a:t>
            </a:r>
          </a:p>
          <a:p>
            <a:pPr lvl="1" algn="l"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   ○ Semi-annual QA and risk log updates</a:t>
            </a:r>
          </a:p>
          <a:p>
            <a:pPr algn="l">
              <a:defRPr sz="2000" b="0">
                <a:solidFill>
                  <a:srgbClr val="0D2026"/>
                </a:solidFill>
                <a:latin typeface="Open Sans"/>
              </a:defRPr>
            </a:pPr>
            <a:r>
              <a:t>• Phase 7: Closure</a:t>
            </a:r>
          </a:p>
          <a:p>
            <a:pPr lvl="1" algn="l"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   ○ Final acceptance and lessons learned</a:t>
            </a:r>
          </a:p>
          <a:p>
            <a:pPr lvl="1" algn="l"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   ○ Knowledge transfer and close-out docs</a:t>
            </a:r>
          </a:p>
        </p:txBody>
      </p:sp>
      <p:sp>
        <p:nvSpPr>
          <p:cNvPr id="7" name="Diamond 6"/>
          <p:cNvSpPr/>
          <p:nvPr/>
        </p:nvSpPr>
        <p:spPr>
          <a:xfrm>
            <a:off x="11640312" y="6217920"/>
            <a:ext cx="457200" cy="365760"/>
          </a:xfrm>
          <a:prstGeom prst="diamond">
            <a:avLst/>
          </a:prstGeom>
          <a:solidFill>
            <a:srgbClr val="C6C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0">
                <a:solidFill>
                  <a:srgbClr val="0D2026"/>
                </a:solidFill>
                <a:latin typeface="Cairo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title_and_content_afe0bed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af94b24b8ad3d6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94360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548640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2026"/>
                </a:solidFill>
                <a:latin typeface="Cairo"/>
              </a:defRPr>
            </a:pPr>
            <a:r>
              <a:t>Methodological Pillars</a:t>
            </a:r>
          </a:p>
        </p:txBody>
      </p:sp>
      <p:sp>
        <p:nvSpPr>
          <p:cNvPr id="5" name="Rectangle 4"/>
          <p:cNvSpPr/>
          <p:nvPr/>
        </p:nvSpPr>
        <p:spPr>
          <a:xfrm>
            <a:off x="1554480" y="1417320"/>
            <a:ext cx="8778240" cy="18288"/>
          </a:xfrm>
          <a:prstGeom prst="rect">
            <a:avLst/>
          </a:prstGeom>
          <a:solidFill>
            <a:srgbClr val="0D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601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D2026"/>
                </a:solidFill>
                <a:latin typeface="Open Sans"/>
              </a:defRPr>
            </a:pPr>
            <a:r>
              <a:t>• Evidence-based design</a:t>
            </a:r>
          </a:p>
          <a:p>
            <a:pPr lvl="1" algn="l"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   ○ Surveys, FGDs, interviews</a:t>
            </a:r>
          </a:p>
          <a:p>
            <a:pPr lvl="1" algn="l"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   ○ Benchmarking</a:t>
            </a:r>
          </a:p>
          <a:p>
            <a:pPr algn="l">
              <a:defRPr sz="2000" b="0">
                <a:solidFill>
                  <a:srgbClr val="0D2026"/>
                </a:solidFill>
                <a:latin typeface="Open Sans"/>
              </a:defRPr>
            </a:pPr>
            <a:r>
              <a:t>• SAQF compliance</a:t>
            </a:r>
          </a:p>
          <a:p>
            <a:pPr lvl="1" algn="l"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   ○ Outcomes, levels, assessment, pathways</a:t>
            </a:r>
          </a:p>
          <a:p>
            <a:pPr algn="l">
              <a:defRPr sz="2000" b="0">
                <a:solidFill>
                  <a:srgbClr val="0D2026"/>
                </a:solidFill>
                <a:latin typeface="Open Sans"/>
              </a:defRPr>
            </a:pPr>
            <a:r>
              <a:t>• Human-centered enablement</a:t>
            </a:r>
          </a:p>
          <a:p>
            <a:pPr lvl="1" algn="l"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   ○ Role clarity and fair progression</a:t>
            </a:r>
          </a:p>
          <a:p>
            <a:pPr algn="l">
              <a:defRPr sz="2000" b="0">
                <a:solidFill>
                  <a:srgbClr val="0D2026"/>
                </a:solidFill>
                <a:latin typeface="Open Sans"/>
              </a:defRPr>
            </a:pPr>
            <a:r>
              <a:t>• Delivery excellence</a:t>
            </a:r>
          </a:p>
          <a:p>
            <a:pPr lvl="1" algn="l"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   ○ Structured PMO and acceptance criteria</a:t>
            </a:r>
          </a:p>
          <a:p>
            <a:pPr algn="l">
              <a:defRPr sz="2000" b="0">
                <a:solidFill>
                  <a:srgbClr val="0D2026"/>
                </a:solidFill>
                <a:latin typeface="Open Sans"/>
              </a:defRPr>
            </a:pPr>
            <a:r>
              <a:t>• Sustainability</a:t>
            </a:r>
          </a:p>
          <a:p>
            <a:pPr lvl="1" algn="l"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   ○ Toolkits, templates, and institutionalization</a:t>
            </a:r>
          </a:p>
        </p:txBody>
      </p:sp>
      <p:sp>
        <p:nvSpPr>
          <p:cNvPr id="7" name="Diamond 6"/>
          <p:cNvSpPr/>
          <p:nvPr/>
        </p:nvSpPr>
        <p:spPr>
          <a:xfrm>
            <a:off x="11640312" y="6217920"/>
            <a:ext cx="457200" cy="365760"/>
          </a:xfrm>
          <a:prstGeom prst="diamond">
            <a:avLst/>
          </a:prstGeom>
          <a:solidFill>
            <a:srgbClr val="C6C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0">
                <a:solidFill>
                  <a:srgbClr val="0D2026"/>
                </a:solidFill>
                <a:latin typeface="Cairo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ection_header_85c5716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e33e96e8da89272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0408" y="201168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474720"/>
            <a:ext cx="103601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CEC"/>
                </a:solidFill>
                <a:latin typeface="Cairo"/>
              </a:defRPr>
            </a:pPr>
            <a:r>
              <a:t>Project Architecture</a:t>
            </a:r>
          </a:p>
        </p:txBody>
      </p:sp>
      <p:sp>
        <p:nvSpPr>
          <p:cNvPr id="5" name="Diamond 4"/>
          <p:cNvSpPr/>
          <p:nvPr/>
        </p:nvSpPr>
        <p:spPr>
          <a:xfrm>
            <a:off x="11640312" y="6217920"/>
            <a:ext cx="457200" cy="365760"/>
          </a:xfrm>
          <a:prstGeom prst="diamond">
            <a:avLst/>
          </a:prstGeom>
          <a:solidFill>
            <a:srgbClr val="C6C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0">
                <a:solidFill>
                  <a:srgbClr val="FFFCEC"/>
                </a:solidFill>
                <a:latin typeface="Cairo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title_and_content_afe0bed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d53a95c51b0cf6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94360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548640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2026"/>
                </a:solidFill>
                <a:latin typeface="Cairo"/>
              </a:defRPr>
            </a:pPr>
            <a:r>
              <a:t>System Components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1554480" y="1417320"/>
            <a:ext cx="8778240" cy="18288"/>
          </a:xfrm>
          <a:prstGeom prst="rect">
            <a:avLst/>
          </a:prstGeom>
          <a:solidFill>
            <a:srgbClr val="0D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601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D2026"/>
                </a:solidFill>
                <a:latin typeface="Open Sans"/>
              </a:defRPr>
            </a:pPr>
            <a:r>
              <a:t>• Governance and PMO</a:t>
            </a:r>
          </a:p>
          <a:p>
            <a:pPr algn="l">
              <a:defRPr sz="2000" b="0">
                <a:solidFill>
                  <a:srgbClr val="0D2026"/>
                </a:solidFill>
                <a:latin typeface="Open Sans"/>
              </a:defRPr>
            </a:pPr>
            <a:r>
              <a:t>• Role and Competency Design Engine</a:t>
            </a:r>
          </a:p>
          <a:p>
            <a:pPr algn="l">
              <a:defRPr sz="2000" b="0">
                <a:solidFill>
                  <a:srgbClr val="0D2026"/>
                </a:solidFill>
                <a:latin typeface="Open Sans"/>
              </a:defRPr>
            </a:pPr>
            <a:r>
              <a:t>• SAQF Qualification Authoring &amp; Registration</a:t>
            </a:r>
          </a:p>
          <a:p>
            <a:pPr algn="l">
              <a:defRPr sz="2000" b="0">
                <a:solidFill>
                  <a:srgbClr val="0D2026"/>
                </a:solidFill>
                <a:latin typeface="Open Sans"/>
              </a:defRPr>
            </a:pPr>
            <a:r>
              <a:t>• Training Delivery and Operations</a:t>
            </a:r>
          </a:p>
          <a:p>
            <a:pPr algn="l">
              <a:defRPr sz="2000" b="0">
                <a:solidFill>
                  <a:srgbClr val="0D2026"/>
                </a:solidFill>
                <a:latin typeface="Open Sans"/>
              </a:defRPr>
            </a:pPr>
            <a:r>
              <a:t>• Partnerships and Provider Enablement</a:t>
            </a:r>
          </a:p>
          <a:p>
            <a:pPr algn="l">
              <a:defRPr sz="2000" b="0">
                <a:solidFill>
                  <a:srgbClr val="0D2026"/>
                </a:solidFill>
                <a:latin typeface="Open Sans"/>
              </a:defRPr>
            </a:pPr>
            <a:r>
              <a:t>• M&amp;E and Impact Measurement</a:t>
            </a:r>
          </a:p>
          <a:p>
            <a:pPr algn="l">
              <a:defRPr sz="2000" b="0">
                <a:solidFill>
                  <a:srgbClr val="0D2026"/>
                </a:solidFill>
                <a:latin typeface="Open Sans"/>
              </a:defRPr>
            </a:pPr>
            <a:r>
              <a:t>• Incentives and Enablers Activation</a:t>
            </a:r>
          </a:p>
          <a:p>
            <a:pPr algn="l">
              <a:defRPr sz="2000" b="0">
                <a:solidFill>
                  <a:srgbClr val="0D2026"/>
                </a:solidFill>
                <a:latin typeface="Open Sans"/>
              </a:defRPr>
            </a:pPr>
            <a:r>
              <a:t>• Knowledge Management and Archiving</a:t>
            </a:r>
          </a:p>
        </p:txBody>
      </p:sp>
      <p:sp>
        <p:nvSpPr>
          <p:cNvPr id="7" name="Diamond 6"/>
          <p:cNvSpPr/>
          <p:nvPr/>
        </p:nvSpPr>
        <p:spPr>
          <a:xfrm>
            <a:off x="11640312" y="6217920"/>
            <a:ext cx="457200" cy="365760"/>
          </a:xfrm>
          <a:prstGeom prst="diamond">
            <a:avLst/>
          </a:prstGeom>
          <a:solidFill>
            <a:srgbClr val="C6C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0">
                <a:solidFill>
                  <a:srgbClr val="0D2026"/>
                </a:solidFill>
                <a:latin typeface="Cairo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title_and_content_afe0bed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af94b24b8ad3d6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94360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548640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2026"/>
                </a:solidFill>
                <a:latin typeface="Cairo"/>
              </a:defRPr>
            </a:pPr>
            <a:r>
              <a:t>Data Flow and Integration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554480" y="1417320"/>
            <a:ext cx="8778240" cy="18288"/>
          </a:xfrm>
          <a:prstGeom prst="rect">
            <a:avLst/>
          </a:prstGeom>
          <a:solidFill>
            <a:srgbClr val="0D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601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D2026"/>
                </a:solidFill>
                <a:latin typeface="Open Sans"/>
              </a:defRPr>
            </a:pPr>
            <a:r>
              <a:t>• Inputs</a:t>
            </a:r>
          </a:p>
          <a:p>
            <a:pPr lvl="1" algn="l"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   ○ Program objectives, regulations, journey data</a:t>
            </a:r>
          </a:p>
          <a:p>
            <a:pPr lvl="1" algn="l"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   ○ Stakeholder feedback, labor classification, SAQF</a:t>
            </a:r>
          </a:p>
          <a:p>
            <a:pPr algn="l">
              <a:defRPr sz="2000" b="0">
                <a:solidFill>
                  <a:srgbClr val="0D2026"/>
                </a:solidFill>
                <a:latin typeface="Open Sans"/>
              </a:defRPr>
            </a:pPr>
            <a:r>
              <a:t>• Processing</a:t>
            </a:r>
          </a:p>
          <a:p>
            <a:pPr lvl="1" algn="l"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   ○ Role analysis → competency mapping</a:t>
            </a:r>
          </a:p>
          <a:p>
            <a:pPr lvl="1" algn="l"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   ○ Qualification blueprinting → provider onboarding</a:t>
            </a:r>
          </a:p>
          <a:p>
            <a:pPr lvl="1" algn="l"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   ○ Enrollment → performance monitoring → incentives</a:t>
            </a:r>
          </a:p>
          <a:p>
            <a:pPr algn="l">
              <a:defRPr sz="2000" b="0">
                <a:solidFill>
                  <a:srgbClr val="0D2026"/>
                </a:solidFill>
                <a:latin typeface="Open Sans"/>
              </a:defRPr>
            </a:pPr>
            <a:r>
              <a:t>• Outputs</a:t>
            </a:r>
          </a:p>
          <a:p>
            <a:pPr lvl="1" algn="l"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   ○ JD cards, registered qualifications</a:t>
            </a:r>
          </a:p>
          <a:p>
            <a:pPr lvl="1" algn="l"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   ○ Curricula, e-learning, trained workforce</a:t>
            </a:r>
          </a:p>
          <a:p>
            <a:pPr lvl="1" algn="l"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   ○ M&amp;E dashboards, incentive analytics, archives</a:t>
            </a:r>
          </a:p>
        </p:txBody>
      </p:sp>
      <p:sp>
        <p:nvSpPr>
          <p:cNvPr id="7" name="Diamond 6"/>
          <p:cNvSpPr/>
          <p:nvPr/>
        </p:nvSpPr>
        <p:spPr>
          <a:xfrm>
            <a:off x="11640312" y="6217920"/>
            <a:ext cx="457200" cy="365760"/>
          </a:xfrm>
          <a:prstGeom prst="diamond">
            <a:avLst/>
          </a:prstGeom>
          <a:solidFill>
            <a:srgbClr val="C6C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0">
                <a:solidFill>
                  <a:srgbClr val="0D2026"/>
                </a:solidFill>
                <a:latin typeface="Cairo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title_and_content_afe0bed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d53a95c51b0cf6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94360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548640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2026"/>
                </a:solidFill>
                <a:latin typeface="Cairo"/>
              </a:defRPr>
            </a:pPr>
            <a: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1554480" y="1417320"/>
            <a:ext cx="8778240" cy="18288"/>
          </a:xfrm>
          <a:prstGeom prst="rect">
            <a:avLst/>
          </a:prstGeom>
          <a:solidFill>
            <a:srgbClr val="0D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601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D2026"/>
                </a:solidFill>
                <a:latin typeface="Open Sans"/>
              </a:defRPr>
            </a:pPr>
            <a:r>
              <a:t>• Project management: MS Project</a:t>
            </a:r>
          </a:p>
          <a:p>
            <a:pPr algn="l">
              <a:defRPr sz="2000" b="0">
                <a:solidFill>
                  <a:srgbClr val="0D2026"/>
                </a:solidFill>
                <a:latin typeface="Open Sans"/>
              </a:defRPr>
            </a:pPr>
            <a:r>
              <a:t>• Collaboration &amp; documentation</a:t>
            </a:r>
          </a:p>
          <a:p>
            <a:pPr lvl="1" algn="l"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   ○ Secure repositories</a:t>
            </a:r>
          </a:p>
          <a:p>
            <a:pPr lvl="1" algn="l"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   ○ Archiving compatible with Program systems</a:t>
            </a:r>
          </a:p>
          <a:p>
            <a:pPr algn="l">
              <a:defRPr sz="2000" b="0">
                <a:solidFill>
                  <a:srgbClr val="0D2026"/>
                </a:solidFill>
                <a:latin typeface="Open Sans"/>
              </a:defRPr>
            </a:pPr>
            <a:r>
              <a:t>• Survey and analytics</a:t>
            </a:r>
          </a:p>
          <a:p>
            <a:pPr lvl="1" algn="l"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   ○ Secure tools</a:t>
            </a:r>
          </a:p>
          <a:p>
            <a:pPr lvl="1" algn="l"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   ○ Privacy-aligned data processing</a:t>
            </a:r>
          </a:p>
          <a:p>
            <a:pPr algn="l">
              <a:defRPr sz="2000" b="0">
                <a:solidFill>
                  <a:srgbClr val="0D2026"/>
                </a:solidFill>
                <a:latin typeface="Open Sans"/>
              </a:defRPr>
            </a:pPr>
            <a:r>
              <a:t>• E-learning</a:t>
            </a:r>
          </a:p>
          <a:p>
            <a:pPr lvl="1" algn="l"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   ○ SCORM/xAPI-compliant packages</a:t>
            </a:r>
          </a:p>
          <a:p>
            <a:pPr lvl="1" algn="l">
              <a:defRPr sz="1800" b="0">
                <a:solidFill>
                  <a:srgbClr val="0D2026"/>
                </a:solidFill>
                <a:latin typeface="Open Sans"/>
              </a:defRPr>
            </a:pPr>
            <a:r>
              <a:t>   ○ Client LMS and archiving-ready</a:t>
            </a:r>
          </a:p>
        </p:txBody>
      </p:sp>
      <p:sp>
        <p:nvSpPr>
          <p:cNvPr id="7" name="Diamond 6"/>
          <p:cNvSpPr/>
          <p:nvPr/>
        </p:nvSpPr>
        <p:spPr>
          <a:xfrm>
            <a:off x="11640312" y="6217920"/>
            <a:ext cx="457200" cy="365760"/>
          </a:xfrm>
          <a:prstGeom prst="diamond">
            <a:avLst/>
          </a:prstGeom>
          <a:solidFill>
            <a:srgbClr val="C6C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0">
                <a:solidFill>
                  <a:srgbClr val="0D2026"/>
                </a:solidFill>
                <a:latin typeface="Cairo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ection_header_85c5716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c5f25a280111e11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0408" y="201168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474720"/>
            <a:ext cx="103601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CEC"/>
                </a:solidFill>
                <a:latin typeface="Cairo"/>
              </a:defRPr>
            </a:pPr>
            <a:r>
              <a:t>Relevant Experience</a:t>
            </a:r>
          </a:p>
        </p:txBody>
      </p:sp>
      <p:sp>
        <p:nvSpPr>
          <p:cNvPr id="5" name="Diamond 4"/>
          <p:cNvSpPr/>
          <p:nvPr/>
        </p:nvSpPr>
        <p:spPr>
          <a:xfrm>
            <a:off x="11640312" y="6217920"/>
            <a:ext cx="457200" cy="365760"/>
          </a:xfrm>
          <a:prstGeom prst="diamond">
            <a:avLst/>
          </a:prstGeom>
          <a:solidFill>
            <a:srgbClr val="C6C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0">
                <a:solidFill>
                  <a:srgbClr val="FFFCEC"/>
                </a:solidFill>
                <a:latin typeface="Cairo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