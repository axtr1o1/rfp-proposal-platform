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title>
      <c:tx>
        <c:rich>
          <a:bodyPr/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Project Timeline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 Phases</c:v>
                </c:pt>
              </c:strCache>
            </c:strRef>
          </c:tx>
          <c:dLbls>
            <c:numFmt formatCode="0&quot;%&quot;" sourceLinked="0"/>
            <c:txPr>
              <a:bodyPr/>
              <a:lstStyle/>
              <a:p>
                <a:pPr>
                  <a:defRPr sz="1000" b="1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Study &amp; Analysis</c:v>
                </c:pt>
                <c:pt idx="1">
                  <c:v>Design &amp; Alignment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20.0</c:v>
                </c:pt>
                <c:pt idx="1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1">
                    <a:solidFill>
                      <a:srgbClr val="1F2937"/>
                    </a:solidFill>
                  </a:defRPr>
                </a:pPr>
                <a:r>
                  <a:t>Project Phases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1">
                    <a:solidFill>
                      <a:srgbClr val="1F2937"/>
                    </a:solidFill>
                  </a:defRPr>
                </a:pPr>
                <a:r>
                  <a:t>Percentage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560320"/>
            <a:ext cx="94457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4400" b="1">
                <a:solidFill>
                  <a:srgbClr val="0D2026"/>
                </a:solidFill>
                <a:latin typeface="Cairo"/>
              </a:defRPr>
            </a:pPr>
            <a:r>
              <a:t>Rural Development Strategy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2400">
                <a:solidFill>
                  <a:srgbClr val="0D2026"/>
                </a:solidFill>
                <a:latin typeface="Tajawal"/>
              </a:defRPr>
            </a:pPr>
            <a:r>
              <a:t>Prepared by Impetus Strategy</a:t>
            </a:r>
          </a:p>
          <a:p>
            <a:pPr algn="ctr">
              <a:lnSpc>
                <a:spcPct val="145000"/>
              </a:lnSpc>
              <a:spcAft>
                <a:spcPts val="600"/>
              </a:spcAft>
              <a:defRPr sz="2400">
                <a:solidFill>
                  <a:srgbClr val="0D2026"/>
                </a:solidFill>
                <a:latin typeface="Tajawal"/>
              </a:defRPr>
            </a:pPr>
            <a:r>
              <a:t>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Executive Summary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Understanding of the RFP and Objectives - Establish national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Establish national framework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Non-profit village strategies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Produce village-specific plans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Strategic maps and KPIs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Design operating models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Financial models included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Understanding of the RFP and Objectives - Propose new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Propose new entities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Non-profit establishment options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Ensure robust governance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Compliance with regulations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Engage stakeholders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Crowdsource solutions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Understanding of the RFP and Objectives - Risk and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Risk and sustainability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Management across dimensions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Use previous assessments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Community and capacity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0D2026"/>
                </a:solidFill>
                <a:latin typeface="Cairo"/>
              </a:defRPr>
            </a:pPr>
            <a:r>
              <a:t>Technical Approach and Methodology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Phased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Phase 1 — Study &amp;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Phase 2 — Design &amp;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Phase 2 Continuation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Methodological Pillars - Inclusivity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Inclusivity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Stakeholder co-design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Evidence-based decisions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Comparative analysis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Local content preference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Sustainability focus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Methodological Pillars - Governance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Governance &amp; transparency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Knowledge transfer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Strategy Design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Initiative Management Toolkit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Data Repository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2103120"/>
          </a:xfrm>
          <a:prstGeom prst="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Productivity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4572000" cy="2103120"/>
          </a:xfrm>
          <a:prstGeom prst="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Analytics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572000" cy="2103120"/>
          </a:xfrm>
          <a:prstGeom prst="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4480560"/>
            <a:ext cx="3840480" cy="13715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>
                <a:solidFill>
                  <a:srgbClr val="0D2026"/>
                </a:solidFill>
                <a:latin typeface="Tajawal"/>
              </a:defRPr>
            </a:pPr>
            <a:r>
              <a:t>Secure Deployment</a:t>
            </a:r>
          </a:p>
        </p:txBody>
      </p:sp>
      <p:sp>
        <p:nvSpPr>
          <p:cNvPr id="10" name="Diamond 9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Relevant Experience and Case Evidence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Case Studies - Social and Economic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Social and Economic Surveys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Guiding policy decisions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Community Needs Assessment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Define selection criteria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Job Standards System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Training programs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Case Studies - Social Investment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Social Investment Strategy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Implementation roadmap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Project Team and Roles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475488">
                <a:tc>
                  <a:txBody>
                    <a:bodyPr/>
                    <a:lstStyle/>
                    <a:p>
                      <a:pPr algn="r">
                        <a:defRPr b="1" sz="1600">
                          <a:solidFill>
                            <a:srgbClr val="FFFCEC"/>
                          </a:solidFill>
                          <a:latin typeface="Cairo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141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600">
                          <a:solidFill>
                            <a:srgbClr val="FFFCEC"/>
                          </a:solidFill>
                          <a:latin typeface="Cairo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1415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600">
                          <a:solidFill>
                            <a:srgbClr val="FFFCEC"/>
                          </a:solidFill>
                          <a:latin typeface="Cairo"/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14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Managing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Ahmad Al-Malki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Overall executive leadership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Global Projects Lead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Fatima Hassan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International benchmarking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Engagement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Mohanned Karim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Day-to-day leadership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EPMO Manager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Sara Al-Rashid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Program management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Strategy 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Ali Hadi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Strategy design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Community Development Specialist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Layla Zahra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Community expertise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Strategic Planning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Omar 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Method engineering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Social Innovation Specialist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Nada Jafar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Lab design</a:t>
                      </a:r>
                    </a:p>
                  </a:txBody>
                  <a:tcPr>
                    <a:solidFill>
                      <a:srgbClr val="F7F4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Financial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Khalid Noor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0D2026"/>
                          </a:solidFill>
                          <a:latin typeface="Tajawal"/>
                        </a:defRPr>
                      </a:pPr>
                      <a:r>
                        <a:t>Financial modeling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0D2026"/>
                </a:solidFill>
                <a:latin typeface="Cairo"/>
              </a:defRPr>
            </a:pPr>
            <a:r>
              <a:t>Work Plan, Timeline, and Milestones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Timeline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Quality Assurance and Risk Management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QA and Risks - Quality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Quality Plan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Gate reviews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Peer review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Data Gaps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Triangulate studies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Schedule Slippage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EPMO monitoring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QA and Risks - Sustainability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Sustainability Risks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Embed financial models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Why Impetus Strategy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Advantages - Impact-First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Impact-First Approach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Measurable outcomes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Domain Expertise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Community and rural development</a:t>
            </a:r>
          </a:p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End-to-End Capability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From diagnostics to execution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Advantages - Social Innovation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defRPr b="0" sz="1800">
                <a:solidFill>
                  <a:srgbClr val="0D2026"/>
                </a:solidFill>
                <a:latin typeface="Tajawal"/>
              </a:defRPr>
            </a:pPr>
            <a:r>
              <a:t>Social Innovation Enablement</a:t>
            </a:r>
          </a:p>
          <a:p>
            <a:pPr algn="r" lvl="1">
              <a:lnSpc>
                <a:spcPct val="175000"/>
              </a:lnSpc>
              <a:defRPr sz="1600">
                <a:solidFill>
                  <a:srgbClr val="0D2026"/>
                </a:solidFill>
                <a:latin typeface="Tajawal"/>
              </a:defRPr>
            </a:pPr>
            <a:r>
              <a:t>Digital platform activation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3600" b="1">
                <a:solidFill>
                  <a:srgbClr val="0D2026"/>
                </a:solidFill>
                <a:latin typeface="Cairo"/>
              </a:defRPr>
            </a:pPr>
            <a:r>
              <a:t>Thank You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